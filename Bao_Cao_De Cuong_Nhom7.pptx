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Unbounded"/>
      <p:regular r:id="rId17"/>
    </p:embeddedFont>
    <p:embeddedFont>
      <p:font typeface="Unbounded"/>
      <p:regular r:id="rId18"/>
    </p:embeddedFont>
    <p:embeddedFont>
      <p:font typeface="Open Sans"/>
      <p:regular r:id="rId19"/>
    </p:embeddedFont>
    <p:embeddedFont>
      <p:font typeface="Open Sans"/>
      <p:regular r:id="rId20"/>
    </p:embeddedFont>
    <p:embeddedFont>
      <p:font typeface="Open Sans"/>
      <p:regular r:id="rId21"/>
    </p:embeddedFont>
    <p:embeddedFont>
      <p:font typeface="Open Sans"/>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5.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7.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8.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0.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342793"/>
            <a:ext cx="7556421" cy="3543895"/>
          </a:xfrm>
          <a:prstGeom prst="rect">
            <a:avLst/>
          </a:prstGeom>
          <a:noFill/>
          <a:ln/>
        </p:spPr>
        <p:txBody>
          <a:bodyPr wrap="square" lIns="0" tIns="0" rIns="0" bIns="0" rtlCol="0" anchor="t"/>
          <a:lstStyle/>
          <a:p>
            <a:pPr algn="l"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Ứng Dụng Công Nghệ Blockchain Trong Quản Lý Chuỗi Cung Ứng Phân Phối Tại Việt Nam</a:t>
            </a:r>
            <a:endParaRPr lang="en-US" sz="4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977860"/>
            <a:ext cx="8926473" cy="708779"/>
          </a:xfrm>
          <a:prstGeom prst="rect">
            <a:avLst/>
          </a:prstGeom>
          <a:noFill/>
          <a:ln/>
        </p:spPr>
        <p:txBody>
          <a:bodyPr wrap="none" lIns="0" tIns="0" rIns="0" bIns="0" rtlCol="0" anchor="t"/>
          <a:lstStyle/>
          <a:p>
            <a:pPr algn="l"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Tính Cấp Thiết Của Đề Tài</a:t>
            </a:r>
            <a:endParaRPr lang="en-US" sz="4450" dirty="0"/>
          </a:p>
        </p:txBody>
      </p:sp>
      <p:sp>
        <p:nvSpPr>
          <p:cNvPr id="3" name="Shape 1"/>
          <p:cNvSpPr/>
          <p:nvPr/>
        </p:nvSpPr>
        <p:spPr>
          <a:xfrm>
            <a:off x="793790" y="2140267"/>
            <a:ext cx="510302" cy="510302"/>
          </a:xfrm>
          <a:prstGeom prst="roundRect">
            <a:avLst>
              <a:gd name="adj" fmla="val 18669"/>
            </a:avLst>
          </a:prstGeom>
          <a:solidFill>
            <a:srgbClr val="D6F5EE"/>
          </a:solidFill>
          <a:ln w="7620">
            <a:solidFill>
              <a:srgbClr val="BCDBD4"/>
            </a:solidFill>
            <a:prstDash val="solid"/>
          </a:ln>
        </p:spPr>
      </p:sp>
      <p:pic>
        <p:nvPicPr>
          <p:cNvPr id="4" name="Image 0" descr="preencoded.png">    </p:cNvPr>
          <p:cNvPicPr>
            <a:picLocks noChangeAspect="1"/>
          </p:cNvPicPr>
          <p:nvPr/>
        </p:nvPicPr>
        <p:blipFill>
          <a:blip r:embed="rId1"/>
          <a:stretch>
            <a:fillRect/>
          </a:stretch>
        </p:blipFill>
        <p:spPr>
          <a:xfrm>
            <a:off x="878860" y="2182773"/>
            <a:ext cx="340162" cy="425291"/>
          </a:xfrm>
          <a:prstGeom prst="rect">
            <a:avLst/>
          </a:prstGeom>
        </p:spPr>
      </p:pic>
      <p:sp>
        <p:nvSpPr>
          <p:cNvPr id="5" name="Text 2"/>
          <p:cNvSpPr/>
          <p:nvPr/>
        </p:nvSpPr>
        <p:spPr>
          <a:xfrm>
            <a:off x="1530906" y="2218134"/>
            <a:ext cx="4567714" cy="354330"/>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Thiếu minh bạch thông tin</a:t>
            </a:r>
            <a:endParaRPr lang="en-US" sz="2200" dirty="0"/>
          </a:p>
        </p:txBody>
      </p:sp>
      <p:sp>
        <p:nvSpPr>
          <p:cNvPr id="6" name="Text 3"/>
          <p:cNvSpPr/>
          <p:nvPr/>
        </p:nvSpPr>
        <p:spPr>
          <a:xfrm>
            <a:off x="1530906" y="2708553"/>
            <a:ext cx="5642610" cy="1451610"/>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Hệ thống chuỗi cung ứng hiện tại tại Việt Nam đang gặp khó khăn trong việc chia sẻ thông tin giữa các bên tham gia, dẫn đến tình trạng không đồng bộ và thiếu tin cậy.</a:t>
            </a:r>
            <a:endParaRPr lang="en-US" sz="1750" dirty="0"/>
          </a:p>
        </p:txBody>
      </p:sp>
      <p:sp>
        <p:nvSpPr>
          <p:cNvPr id="7" name="Shape 4"/>
          <p:cNvSpPr/>
          <p:nvPr/>
        </p:nvSpPr>
        <p:spPr>
          <a:xfrm>
            <a:off x="7457003" y="2140267"/>
            <a:ext cx="510302" cy="510302"/>
          </a:xfrm>
          <a:prstGeom prst="roundRect">
            <a:avLst>
              <a:gd name="adj" fmla="val 18669"/>
            </a:avLst>
          </a:prstGeom>
          <a:solidFill>
            <a:srgbClr val="D6F5EE"/>
          </a:solidFill>
          <a:ln w="7620">
            <a:solidFill>
              <a:srgbClr val="BCDBD4"/>
            </a:solidFill>
            <a:prstDash val="solid"/>
          </a:ln>
        </p:spPr>
      </p:sp>
      <p:pic>
        <p:nvPicPr>
          <p:cNvPr id="8" name="Image 1" descr="preencoded.png">    </p:cNvPr>
          <p:cNvPicPr>
            <a:picLocks noChangeAspect="1"/>
          </p:cNvPicPr>
          <p:nvPr/>
        </p:nvPicPr>
        <p:blipFill>
          <a:blip r:embed="rId2"/>
          <a:stretch>
            <a:fillRect/>
          </a:stretch>
        </p:blipFill>
        <p:spPr>
          <a:xfrm>
            <a:off x="7542074" y="2182773"/>
            <a:ext cx="340162" cy="425291"/>
          </a:xfrm>
          <a:prstGeom prst="rect">
            <a:avLst/>
          </a:prstGeom>
        </p:spPr>
      </p:pic>
      <p:sp>
        <p:nvSpPr>
          <p:cNvPr id="9" name="Text 5"/>
          <p:cNvSpPr/>
          <p:nvPr/>
        </p:nvSpPr>
        <p:spPr>
          <a:xfrm>
            <a:off x="8194119" y="2218134"/>
            <a:ext cx="4337566" cy="354330"/>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Khó truy xuất nguồn gốc</a:t>
            </a:r>
            <a:endParaRPr lang="en-US" sz="2200" dirty="0"/>
          </a:p>
        </p:txBody>
      </p:sp>
      <p:sp>
        <p:nvSpPr>
          <p:cNvPr id="10" name="Text 6"/>
          <p:cNvSpPr/>
          <p:nvPr/>
        </p:nvSpPr>
        <p:spPr>
          <a:xfrm>
            <a:off x="8194119" y="2708553"/>
            <a:ext cx="5642610" cy="1088708"/>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Người tiêu dùng và các bên liên quan gặp khó khăn trong việc xác định chính xác nguồn gốc, quy trình sản xuất và phân phối sản phẩm.</a:t>
            </a:r>
            <a:endParaRPr lang="en-US" sz="1750" dirty="0"/>
          </a:p>
        </p:txBody>
      </p:sp>
      <p:sp>
        <p:nvSpPr>
          <p:cNvPr id="11" name="Shape 7"/>
          <p:cNvSpPr/>
          <p:nvPr/>
        </p:nvSpPr>
        <p:spPr>
          <a:xfrm>
            <a:off x="793790" y="4613791"/>
            <a:ext cx="510302" cy="510302"/>
          </a:xfrm>
          <a:prstGeom prst="roundRect">
            <a:avLst>
              <a:gd name="adj" fmla="val 18669"/>
            </a:avLst>
          </a:prstGeom>
          <a:solidFill>
            <a:srgbClr val="D6F5EE"/>
          </a:solidFill>
          <a:ln w="7620">
            <a:solidFill>
              <a:srgbClr val="BCDBD4"/>
            </a:solidFill>
            <a:prstDash val="solid"/>
          </a:ln>
        </p:spPr>
      </p:sp>
      <p:pic>
        <p:nvPicPr>
          <p:cNvPr id="12" name="Image 2" descr="preencoded.png">    </p:cNvPr>
          <p:cNvPicPr>
            <a:picLocks noChangeAspect="1"/>
          </p:cNvPicPr>
          <p:nvPr/>
        </p:nvPicPr>
        <p:blipFill>
          <a:blip r:embed="rId3"/>
          <a:stretch>
            <a:fillRect/>
          </a:stretch>
        </p:blipFill>
        <p:spPr>
          <a:xfrm>
            <a:off x="878860" y="4656296"/>
            <a:ext cx="340162" cy="425291"/>
          </a:xfrm>
          <a:prstGeom prst="rect">
            <a:avLst/>
          </a:prstGeom>
        </p:spPr>
      </p:pic>
      <p:sp>
        <p:nvSpPr>
          <p:cNvPr id="13" name="Text 8"/>
          <p:cNvSpPr/>
          <p:nvPr/>
        </p:nvSpPr>
        <p:spPr>
          <a:xfrm>
            <a:off x="1530906" y="4691658"/>
            <a:ext cx="3660577" cy="354330"/>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Nguy cơ gian lận cao</a:t>
            </a:r>
            <a:endParaRPr lang="en-US" sz="2200" dirty="0"/>
          </a:p>
        </p:txBody>
      </p:sp>
      <p:sp>
        <p:nvSpPr>
          <p:cNvPr id="14" name="Text 9"/>
          <p:cNvSpPr/>
          <p:nvPr/>
        </p:nvSpPr>
        <p:spPr>
          <a:xfrm>
            <a:off x="1530906" y="5182076"/>
            <a:ext cx="5642610" cy="1088708"/>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Các hệ thống truyền thống dễ bị tấn công, làm giả dữ liệu và thông tin về sản phẩm, ảnh hưởng nghiêm trọng đến niềm tin của người tiêu dùng.</a:t>
            </a:r>
            <a:endParaRPr lang="en-US" sz="1750" dirty="0"/>
          </a:p>
        </p:txBody>
      </p:sp>
      <p:sp>
        <p:nvSpPr>
          <p:cNvPr id="15" name="Shape 10"/>
          <p:cNvSpPr/>
          <p:nvPr/>
        </p:nvSpPr>
        <p:spPr>
          <a:xfrm>
            <a:off x="7457003" y="4613791"/>
            <a:ext cx="510302" cy="510302"/>
          </a:xfrm>
          <a:prstGeom prst="roundRect">
            <a:avLst>
              <a:gd name="adj" fmla="val 18669"/>
            </a:avLst>
          </a:prstGeom>
          <a:solidFill>
            <a:srgbClr val="D6F5EE"/>
          </a:solidFill>
          <a:ln w="7620">
            <a:solidFill>
              <a:srgbClr val="BCDBD4"/>
            </a:solidFill>
            <a:prstDash val="solid"/>
          </a:ln>
        </p:spPr>
      </p:sp>
      <p:pic>
        <p:nvPicPr>
          <p:cNvPr id="16" name="Image 3" descr="preencoded.png">    </p:cNvPr>
          <p:cNvPicPr>
            <a:picLocks noChangeAspect="1"/>
          </p:cNvPicPr>
          <p:nvPr/>
        </p:nvPicPr>
        <p:blipFill>
          <a:blip r:embed="rId4"/>
          <a:stretch>
            <a:fillRect/>
          </a:stretch>
        </p:blipFill>
        <p:spPr>
          <a:xfrm>
            <a:off x="7542074" y="4656296"/>
            <a:ext cx="340162" cy="425291"/>
          </a:xfrm>
          <a:prstGeom prst="rect">
            <a:avLst/>
          </a:prstGeom>
        </p:spPr>
      </p:pic>
      <p:sp>
        <p:nvSpPr>
          <p:cNvPr id="17" name="Text 11"/>
          <p:cNvSpPr/>
          <p:nvPr/>
        </p:nvSpPr>
        <p:spPr>
          <a:xfrm>
            <a:off x="8194119" y="4691658"/>
            <a:ext cx="3627715" cy="354330"/>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Chi phí vận hành cao</a:t>
            </a:r>
            <a:endParaRPr lang="en-US" sz="2200" dirty="0"/>
          </a:p>
        </p:txBody>
      </p:sp>
      <p:sp>
        <p:nvSpPr>
          <p:cNvPr id="18" name="Text 12"/>
          <p:cNvSpPr/>
          <p:nvPr/>
        </p:nvSpPr>
        <p:spPr>
          <a:xfrm>
            <a:off x="8194119" y="5182076"/>
            <a:ext cx="5642610" cy="1088708"/>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Hệ thống quản lý chuỗi cung ứng hiện tại tốn kém chi phí vận hành, đặc biệt trong các khâu kiểm soát, xác thực và xử lý các vấn đề phát sinh.</a:t>
            </a:r>
            <a:endParaRPr lang="en-US" sz="1750" dirty="0"/>
          </a:p>
        </p:txBody>
      </p:sp>
      <p:sp>
        <p:nvSpPr>
          <p:cNvPr id="19" name="Text 13"/>
          <p:cNvSpPr/>
          <p:nvPr/>
        </p:nvSpPr>
        <p:spPr>
          <a:xfrm>
            <a:off x="793790" y="6525935"/>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Công nghệ Blockchain với đặc tính bất biến, phân tán và minh bạch, đang nổi lên như một giải pháp công nghệ đầy tiềm năng, có thể giải quyết các thách thức này một cách hiệu quả.</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06993" y="918329"/>
            <a:ext cx="10644783" cy="631269"/>
          </a:xfrm>
          <a:prstGeom prst="rect">
            <a:avLst/>
          </a:prstGeom>
          <a:noFill/>
          <a:ln/>
        </p:spPr>
        <p:txBody>
          <a:bodyPr wrap="none" lIns="0" tIns="0" rIns="0" bIns="0" rtlCol="0" anchor="t"/>
          <a:lstStyle/>
          <a:p>
            <a:pPr algn="l" indent="0" marL="0">
              <a:lnSpc>
                <a:spcPts val="4950"/>
              </a:lnSpc>
              <a:buNone/>
            </a:pPr>
            <a:r>
              <a:rPr lang="en-US" sz="3950" b="1" dirty="0">
                <a:solidFill>
                  <a:srgbClr val="333F70"/>
                </a:solidFill>
                <a:latin typeface="Unbounded Bold" pitchFamily="34" charset="0"/>
                <a:ea typeface="Unbounded Bold" pitchFamily="34" charset="-122"/>
                <a:cs typeface="Unbounded Bold" pitchFamily="34" charset="-120"/>
              </a:rPr>
              <a:t>Mục Tiêu Và Nhiệm Vụ Nghiên Cứu</a:t>
            </a:r>
            <a:endParaRPr lang="en-US" sz="3950" dirty="0"/>
          </a:p>
        </p:txBody>
      </p:sp>
      <p:pic>
        <p:nvPicPr>
          <p:cNvPr id="3" name="Image 0" descr="preencoded.png">    </p:cNvPr>
          <p:cNvPicPr>
            <a:picLocks noChangeAspect="1"/>
          </p:cNvPicPr>
          <p:nvPr/>
        </p:nvPicPr>
        <p:blipFill>
          <a:blip r:embed="rId1"/>
          <a:stretch>
            <a:fillRect/>
          </a:stretch>
        </p:blipFill>
        <p:spPr>
          <a:xfrm>
            <a:off x="3193256" y="1953578"/>
            <a:ext cx="1635442" cy="1163955"/>
          </a:xfrm>
          <a:prstGeom prst="rect">
            <a:avLst/>
          </a:prstGeom>
        </p:spPr>
      </p:pic>
      <p:pic>
        <p:nvPicPr>
          <p:cNvPr id="4" name="Image 1" descr="preencoded.png">    </p:cNvPr>
          <p:cNvPicPr>
            <a:picLocks noChangeAspect="1"/>
          </p:cNvPicPr>
          <p:nvPr/>
        </p:nvPicPr>
        <p:blipFill>
          <a:blip r:embed="rId2"/>
          <a:stretch>
            <a:fillRect/>
          </a:stretch>
        </p:blipFill>
        <p:spPr>
          <a:xfrm>
            <a:off x="3868936" y="2502337"/>
            <a:ext cx="284083" cy="355044"/>
          </a:xfrm>
          <a:prstGeom prst="rect">
            <a:avLst/>
          </a:prstGeom>
        </p:spPr>
      </p:pic>
      <p:sp>
        <p:nvSpPr>
          <p:cNvPr id="5" name="Text 1"/>
          <p:cNvSpPr/>
          <p:nvPr/>
        </p:nvSpPr>
        <p:spPr>
          <a:xfrm>
            <a:off x="5030629" y="2155508"/>
            <a:ext cx="6107430" cy="315635"/>
          </a:xfrm>
          <a:prstGeom prst="rect">
            <a:avLst/>
          </a:prstGeom>
          <a:noFill/>
          <a:ln/>
        </p:spPr>
        <p:txBody>
          <a:bodyPr wrap="none" lIns="0" tIns="0" rIns="0" bIns="0" rtlCol="0" anchor="t"/>
          <a:lstStyle/>
          <a:p>
            <a:pPr algn="l" indent="0" marL="0">
              <a:lnSpc>
                <a:spcPts val="2450"/>
              </a:lnSpc>
              <a:buNone/>
            </a:pPr>
            <a:r>
              <a:rPr lang="en-US" sz="1950" b="1" dirty="0">
                <a:solidFill>
                  <a:srgbClr val="333F70"/>
                </a:solidFill>
                <a:latin typeface="Unbounded Bold" pitchFamily="34" charset="0"/>
                <a:ea typeface="Unbounded Bold" pitchFamily="34" charset="-122"/>
                <a:cs typeface="Unbounded Bold" pitchFamily="34" charset="-120"/>
              </a:rPr>
              <a:t>Đề xuất giải pháp ứng dụng Blockchain</a:t>
            </a:r>
            <a:endParaRPr lang="en-US" sz="1950" dirty="0"/>
          </a:p>
        </p:txBody>
      </p:sp>
      <p:sp>
        <p:nvSpPr>
          <p:cNvPr id="6" name="Text 2"/>
          <p:cNvSpPr/>
          <p:nvPr/>
        </p:nvSpPr>
        <p:spPr>
          <a:xfrm>
            <a:off x="5030629" y="2592348"/>
            <a:ext cx="6107430" cy="323255"/>
          </a:xfrm>
          <a:prstGeom prst="rect">
            <a:avLst/>
          </a:prstGeom>
          <a:noFill/>
          <a:ln/>
        </p:spPr>
        <p:txBody>
          <a:bodyPr wrap="none" lIns="0" tIns="0" rIns="0" bIns="0" rtlCol="0" anchor="t"/>
          <a:lstStyle/>
          <a:p>
            <a:pPr algn="l" indent="0" marL="0">
              <a:lnSpc>
                <a:spcPts val="2500"/>
              </a:lnSpc>
              <a:buNone/>
            </a:pPr>
            <a:r>
              <a:rPr lang="en-US" sz="1550" dirty="0">
                <a:solidFill>
                  <a:srgbClr val="333F70"/>
                </a:solidFill>
                <a:latin typeface="Open Sans" pitchFamily="34" charset="0"/>
                <a:ea typeface="Open Sans" pitchFamily="34" charset="-122"/>
                <a:cs typeface="Open Sans" pitchFamily="34" charset="-120"/>
              </a:rPr>
              <a:t>Tạo mô hình khả thi cho chuỗi cung ứng Việt Nam</a:t>
            </a:r>
            <a:endParaRPr lang="en-US" sz="1550" dirty="0"/>
          </a:p>
        </p:txBody>
      </p:sp>
      <p:sp>
        <p:nvSpPr>
          <p:cNvPr id="7" name="Shape 3"/>
          <p:cNvSpPr/>
          <p:nvPr/>
        </p:nvSpPr>
        <p:spPr>
          <a:xfrm>
            <a:off x="4879181" y="3133249"/>
            <a:ext cx="8993743" cy="11430"/>
          </a:xfrm>
          <a:prstGeom prst="roundRect">
            <a:avLst>
              <a:gd name="adj" fmla="val 742312"/>
            </a:avLst>
          </a:prstGeom>
          <a:solidFill>
            <a:srgbClr val="BCDBD4"/>
          </a:solidFill>
          <a:ln/>
        </p:spPr>
      </p:sp>
      <p:pic>
        <p:nvPicPr>
          <p:cNvPr id="8" name="Image 2" descr="preencoded.png">    </p:cNvPr>
          <p:cNvPicPr>
            <a:picLocks noChangeAspect="1"/>
          </p:cNvPicPr>
          <p:nvPr/>
        </p:nvPicPr>
        <p:blipFill>
          <a:blip r:embed="rId3"/>
          <a:stretch>
            <a:fillRect/>
          </a:stretch>
        </p:blipFill>
        <p:spPr>
          <a:xfrm>
            <a:off x="2375535" y="3168015"/>
            <a:ext cx="3271004" cy="1163955"/>
          </a:xfrm>
          <a:prstGeom prst="rect">
            <a:avLst/>
          </a:prstGeom>
        </p:spPr>
      </p:pic>
      <p:pic>
        <p:nvPicPr>
          <p:cNvPr id="9" name="Image 3" descr="preencoded.png">    </p:cNvPr>
          <p:cNvPicPr>
            <a:picLocks noChangeAspect="1"/>
          </p:cNvPicPr>
          <p:nvPr/>
        </p:nvPicPr>
        <p:blipFill>
          <a:blip r:embed="rId4"/>
          <a:stretch>
            <a:fillRect/>
          </a:stretch>
        </p:blipFill>
        <p:spPr>
          <a:xfrm>
            <a:off x="3868936" y="3572470"/>
            <a:ext cx="284083" cy="355044"/>
          </a:xfrm>
          <a:prstGeom prst="rect">
            <a:avLst/>
          </a:prstGeom>
        </p:spPr>
      </p:pic>
      <p:sp>
        <p:nvSpPr>
          <p:cNvPr id="10" name="Text 4"/>
          <p:cNvSpPr/>
          <p:nvPr/>
        </p:nvSpPr>
        <p:spPr>
          <a:xfrm>
            <a:off x="5848469" y="3369945"/>
            <a:ext cx="5591532" cy="315635"/>
          </a:xfrm>
          <a:prstGeom prst="rect">
            <a:avLst/>
          </a:prstGeom>
          <a:noFill/>
          <a:ln/>
        </p:spPr>
        <p:txBody>
          <a:bodyPr wrap="none" lIns="0" tIns="0" rIns="0" bIns="0" rtlCol="0" anchor="t"/>
          <a:lstStyle/>
          <a:p>
            <a:pPr algn="l" indent="0" marL="0">
              <a:lnSpc>
                <a:spcPts val="2450"/>
              </a:lnSpc>
              <a:buNone/>
            </a:pPr>
            <a:r>
              <a:rPr lang="en-US" sz="1950" b="1" dirty="0">
                <a:solidFill>
                  <a:srgbClr val="333F70"/>
                </a:solidFill>
                <a:latin typeface="Unbounded Bold" pitchFamily="34" charset="0"/>
                <a:ea typeface="Unbounded Bold" pitchFamily="34" charset="-122"/>
                <a:cs typeface="Unbounded Bold" pitchFamily="34" charset="-120"/>
              </a:rPr>
              <a:t>Phân tích thực trạng và điểm nghẽn</a:t>
            </a:r>
            <a:endParaRPr lang="en-US" sz="1950" dirty="0"/>
          </a:p>
        </p:txBody>
      </p:sp>
      <p:sp>
        <p:nvSpPr>
          <p:cNvPr id="11" name="Text 5"/>
          <p:cNvSpPr/>
          <p:nvPr/>
        </p:nvSpPr>
        <p:spPr>
          <a:xfrm>
            <a:off x="5848469" y="3806785"/>
            <a:ext cx="5591532" cy="323255"/>
          </a:xfrm>
          <a:prstGeom prst="rect">
            <a:avLst/>
          </a:prstGeom>
          <a:noFill/>
          <a:ln/>
        </p:spPr>
        <p:txBody>
          <a:bodyPr wrap="none" lIns="0" tIns="0" rIns="0" bIns="0" rtlCol="0" anchor="t"/>
          <a:lstStyle/>
          <a:p>
            <a:pPr algn="l" indent="0" marL="0">
              <a:lnSpc>
                <a:spcPts val="2500"/>
              </a:lnSpc>
              <a:buNone/>
            </a:pPr>
            <a:r>
              <a:rPr lang="en-US" sz="1550" dirty="0">
                <a:solidFill>
                  <a:srgbClr val="333F70"/>
                </a:solidFill>
                <a:latin typeface="Open Sans" pitchFamily="34" charset="0"/>
                <a:ea typeface="Open Sans" pitchFamily="34" charset="-122"/>
                <a:cs typeface="Open Sans" pitchFamily="34" charset="-120"/>
              </a:rPr>
              <a:t>Xác định các điểm yếu cần cải thiện</a:t>
            </a:r>
            <a:endParaRPr lang="en-US" sz="1550" dirty="0"/>
          </a:p>
        </p:txBody>
      </p:sp>
      <p:sp>
        <p:nvSpPr>
          <p:cNvPr id="12" name="Shape 6"/>
          <p:cNvSpPr/>
          <p:nvPr/>
        </p:nvSpPr>
        <p:spPr>
          <a:xfrm>
            <a:off x="5697022" y="4347686"/>
            <a:ext cx="8175903" cy="11430"/>
          </a:xfrm>
          <a:prstGeom prst="roundRect">
            <a:avLst>
              <a:gd name="adj" fmla="val 742312"/>
            </a:avLst>
          </a:prstGeom>
          <a:solidFill>
            <a:srgbClr val="BCDBD4"/>
          </a:solidFill>
          <a:ln/>
        </p:spPr>
      </p:sp>
      <p:pic>
        <p:nvPicPr>
          <p:cNvPr id="13" name="Image 4" descr="preencoded.png">    </p:cNvPr>
          <p:cNvPicPr>
            <a:picLocks noChangeAspect="1"/>
          </p:cNvPicPr>
          <p:nvPr/>
        </p:nvPicPr>
        <p:blipFill>
          <a:blip r:embed="rId5"/>
          <a:stretch>
            <a:fillRect/>
          </a:stretch>
        </p:blipFill>
        <p:spPr>
          <a:xfrm>
            <a:off x="1557695" y="4382453"/>
            <a:ext cx="4906566" cy="1163955"/>
          </a:xfrm>
          <a:prstGeom prst="rect">
            <a:avLst/>
          </a:prstGeom>
        </p:spPr>
      </p:pic>
      <p:pic>
        <p:nvPicPr>
          <p:cNvPr id="14" name="Image 5" descr="preencoded.png">    </p:cNvPr>
          <p:cNvPicPr>
            <a:picLocks noChangeAspect="1"/>
          </p:cNvPicPr>
          <p:nvPr/>
        </p:nvPicPr>
        <p:blipFill>
          <a:blip r:embed="rId6"/>
          <a:stretch>
            <a:fillRect/>
          </a:stretch>
        </p:blipFill>
        <p:spPr>
          <a:xfrm>
            <a:off x="3868936" y="4786908"/>
            <a:ext cx="284083" cy="355044"/>
          </a:xfrm>
          <a:prstGeom prst="rect">
            <a:avLst/>
          </a:prstGeom>
        </p:spPr>
      </p:pic>
      <p:sp>
        <p:nvSpPr>
          <p:cNvPr id="15" name="Text 7"/>
          <p:cNvSpPr/>
          <p:nvPr/>
        </p:nvSpPr>
        <p:spPr>
          <a:xfrm>
            <a:off x="6666190" y="4584383"/>
            <a:ext cx="6384846" cy="315635"/>
          </a:xfrm>
          <a:prstGeom prst="rect">
            <a:avLst/>
          </a:prstGeom>
          <a:noFill/>
          <a:ln/>
        </p:spPr>
        <p:txBody>
          <a:bodyPr wrap="none" lIns="0" tIns="0" rIns="0" bIns="0" rtlCol="0" anchor="t"/>
          <a:lstStyle/>
          <a:p>
            <a:pPr algn="l" indent="0" marL="0">
              <a:lnSpc>
                <a:spcPts val="2450"/>
              </a:lnSpc>
              <a:buNone/>
            </a:pPr>
            <a:r>
              <a:rPr lang="en-US" sz="1950" b="1" dirty="0">
                <a:solidFill>
                  <a:srgbClr val="333F70"/>
                </a:solidFill>
                <a:latin typeface="Unbounded Bold" pitchFamily="34" charset="0"/>
                <a:ea typeface="Unbounded Bold" pitchFamily="34" charset="-122"/>
                <a:cs typeface="Unbounded Bold" pitchFamily="34" charset="-120"/>
              </a:rPr>
              <a:t>Tìm hiểu nguyên lý hoạt động Blockchain</a:t>
            </a:r>
            <a:endParaRPr lang="en-US" sz="1950" dirty="0"/>
          </a:p>
        </p:txBody>
      </p:sp>
      <p:sp>
        <p:nvSpPr>
          <p:cNvPr id="16" name="Text 8"/>
          <p:cNvSpPr/>
          <p:nvPr/>
        </p:nvSpPr>
        <p:spPr>
          <a:xfrm>
            <a:off x="6666190" y="5021223"/>
            <a:ext cx="6384846" cy="323255"/>
          </a:xfrm>
          <a:prstGeom prst="rect">
            <a:avLst/>
          </a:prstGeom>
          <a:noFill/>
          <a:ln/>
        </p:spPr>
        <p:txBody>
          <a:bodyPr wrap="none" lIns="0" tIns="0" rIns="0" bIns="0" rtlCol="0" anchor="t"/>
          <a:lstStyle/>
          <a:p>
            <a:pPr algn="l" indent="0" marL="0">
              <a:lnSpc>
                <a:spcPts val="2500"/>
              </a:lnSpc>
              <a:buNone/>
            </a:pPr>
            <a:r>
              <a:rPr lang="en-US" sz="1550" dirty="0">
                <a:solidFill>
                  <a:srgbClr val="333F70"/>
                </a:solidFill>
                <a:latin typeface="Open Sans" pitchFamily="34" charset="0"/>
                <a:ea typeface="Open Sans" pitchFamily="34" charset="-122"/>
                <a:cs typeface="Open Sans" pitchFamily="34" charset="-120"/>
              </a:rPr>
              <a:t>Nghiên cứu tiềm năng ứng dụng thực tế</a:t>
            </a:r>
            <a:endParaRPr lang="en-US" sz="1550" dirty="0"/>
          </a:p>
        </p:txBody>
      </p:sp>
      <p:sp>
        <p:nvSpPr>
          <p:cNvPr id="17" name="Shape 9"/>
          <p:cNvSpPr/>
          <p:nvPr/>
        </p:nvSpPr>
        <p:spPr>
          <a:xfrm>
            <a:off x="6514743" y="5562124"/>
            <a:ext cx="7358182" cy="11430"/>
          </a:xfrm>
          <a:prstGeom prst="roundRect">
            <a:avLst>
              <a:gd name="adj" fmla="val 742312"/>
            </a:avLst>
          </a:prstGeom>
          <a:solidFill>
            <a:srgbClr val="BCDBD4"/>
          </a:solidFill>
          <a:ln/>
        </p:spPr>
      </p:sp>
      <p:pic>
        <p:nvPicPr>
          <p:cNvPr id="18" name="Image 6" descr="preencoded.png">    </p:cNvPr>
          <p:cNvPicPr>
            <a:picLocks noChangeAspect="1"/>
          </p:cNvPicPr>
          <p:nvPr/>
        </p:nvPicPr>
        <p:blipFill>
          <a:blip r:embed="rId7"/>
          <a:stretch>
            <a:fillRect/>
          </a:stretch>
        </p:blipFill>
        <p:spPr>
          <a:xfrm>
            <a:off x="739973" y="5596890"/>
            <a:ext cx="6542008" cy="1163955"/>
          </a:xfrm>
          <a:prstGeom prst="rect">
            <a:avLst/>
          </a:prstGeom>
        </p:spPr>
      </p:pic>
      <p:pic>
        <p:nvPicPr>
          <p:cNvPr id="19" name="Image 7" descr="preencoded.png">    </p:cNvPr>
          <p:cNvPicPr>
            <a:picLocks noChangeAspect="1"/>
          </p:cNvPicPr>
          <p:nvPr/>
        </p:nvPicPr>
        <p:blipFill>
          <a:blip r:embed="rId8"/>
          <a:stretch>
            <a:fillRect/>
          </a:stretch>
        </p:blipFill>
        <p:spPr>
          <a:xfrm>
            <a:off x="3868817" y="6001345"/>
            <a:ext cx="284083" cy="355044"/>
          </a:xfrm>
          <a:prstGeom prst="rect">
            <a:avLst/>
          </a:prstGeom>
        </p:spPr>
      </p:pic>
      <p:sp>
        <p:nvSpPr>
          <p:cNvPr id="20" name="Text 10"/>
          <p:cNvSpPr/>
          <p:nvPr/>
        </p:nvSpPr>
        <p:spPr>
          <a:xfrm>
            <a:off x="7483912" y="5798820"/>
            <a:ext cx="4609148" cy="315635"/>
          </a:xfrm>
          <a:prstGeom prst="rect">
            <a:avLst/>
          </a:prstGeom>
          <a:noFill/>
          <a:ln/>
        </p:spPr>
        <p:txBody>
          <a:bodyPr wrap="none" lIns="0" tIns="0" rIns="0" bIns="0" rtlCol="0" anchor="t"/>
          <a:lstStyle/>
          <a:p>
            <a:pPr algn="l" indent="0" marL="0">
              <a:lnSpc>
                <a:spcPts val="2450"/>
              </a:lnSpc>
              <a:buNone/>
            </a:pPr>
            <a:r>
              <a:rPr lang="en-US" sz="1950" b="1" dirty="0">
                <a:solidFill>
                  <a:srgbClr val="333F70"/>
                </a:solidFill>
                <a:latin typeface="Unbounded Bold" pitchFamily="34" charset="0"/>
                <a:ea typeface="Unbounded Bold" pitchFamily="34" charset="-122"/>
                <a:cs typeface="Unbounded Bold" pitchFamily="34" charset="-120"/>
              </a:rPr>
              <a:t>Thiết kế phần mềm mô phỏng</a:t>
            </a:r>
            <a:endParaRPr lang="en-US" sz="1950" dirty="0"/>
          </a:p>
        </p:txBody>
      </p:sp>
      <p:sp>
        <p:nvSpPr>
          <p:cNvPr id="21" name="Text 11"/>
          <p:cNvSpPr/>
          <p:nvPr/>
        </p:nvSpPr>
        <p:spPr>
          <a:xfrm>
            <a:off x="7483912" y="6235660"/>
            <a:ext cx="4609148" cy="323255"/>
          </a:xfrm>
          <a:prstGeom prst="rect">
            <a:avLst/>
          </a:prstGeom>
          <a:noFill/>
          <a:ln/>
        </p:spPr>
        <p:txBody>
          <a:bodyPr wrap="none" lIns="0" tIns="0" rIns="0" bIns="0" rtlCol="0" anchor="t"/>
          <a:lstStyle/>
          <a:p>
            <a:pPr algn="l" indent="0" marL="0">
              <a:lnSpc>
                <a:spcPts val="2500"/>
              </a:lnSpc>
              <a:buNone/>
            </a:pPr>
            <a:r>
              <a:rPr lang="en-US" sz="1550" dirty="0">
                <a:solidFill>
                  <a:srgbClr val="333F70"/>
                </a:solidFill>
                <a:latin typeface="Open Sans" pitchFamily="34" charset="0"/>
                <a:ea typeface="Open Sans" pitchFamily="34" charset="-122"/>
                <a:cs typeface="Open Sans" pitchFamily="34" charset="-120"/>
              </a:rPr>
              <a:t>Minh họa cơ chế vận hành của giải pháp</a:t>
            </a:r>
            <a:endParaRPr lang="en-US" sz="1550" dirty="0"/>
          </a:p>
        </p:txBody>
      </p:sp>
      <p:sp>
        <p:nvSpPr>
          <p:cNvPr id="22" name="Text 12"/>
          <p:cNvSpPr/>
          <p:nvPr/>
        </p:nvSpPr>
        <p:spPr>
          <a:xfrm>
            <a:off x="706993" y="6988016"/>
            <a:ext cx="13216414" cy="323255"/>
          </a:xfrm>
          <a:prstGeom prst="rect">
            <a:avLst/>
          </a:prstGeom>
          <a:noFill/>
          <a:ln/>
        </p:spPr>
        <p:txBody>
          <a:bodyPr wrap="none" lIns="0" tIns="0" rIns="0" bIns="0" rtlCol="0" anchor="t"/>
          <a:lstStyle/>
          <a:p>
            <a:pPr algn="l" indent="0" marL="0">
              <a:lnSpc>
                <a:spcPts val="2500"/>
              </a:lnSpc>
              <a:buNone/>
            </a:pPr>
            <a:r>
              <a:rPr lang="en-US" sz="1550" dirty="0">
                <a:solidFill>
                  <a:srgbClr val="333F70"/>
                </a:solidFill>
                <a:latin typeface="Open Sans" pitchFamily="34" charset="0"/>
                <a:ea typeface="Open Sans" pitchFamily="34" charset="-122"/>
                <a:cs typeface="Open Sans" pitchFamily="34" charset="-120"/>
              </a:rPr>
              <a:t>Nghiên cứu không chỉ dừng lại ở việc phân tích lý thuyết mà còn</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91158" y="543044"/>
            <a:ext cx="6064329" cy="617101"/>
          </a:xfrm>
          <a:prstGeom prst="rect">
            <a:avLst/>
          </a:prstGeom>
          <a:noFill/>
          <a:ln/>
        </p:spPr>
        <p:txBody>
          <a:bodyPr wrap="none" lIns="0" tIns="0" rIns="0" bIns="0" rtlCol="0" anchor="t"/>
          <a:lstStyle/>
          <a:p>
            <a:pPr algn="l" indent="0" marL="0">
              <a:lnSpc>
                <a:spcPts val="4850"/>
              </a:lnSpc>
              <a:buNone/>
            </a:pPr>
            <a:r>
              <a:rPr lang="en-US" sz="3850" b="1" dirty="0">
                <a:solidFill>
                  <a:srgbClr val="333F70"/>
                </a:solidFill>
                <a:latin typeface="Unbounded Bold" pitchFamily="34" charset="0"/>
                <a:ea typeface="Unbounded Bold" pitchFamily="34" charset="-122"/>
                <a:cs typeface="Unbounded Bold" pitchFamily="34" charset="-120"/>
              </a:rPr>
              <a:t>Câu Hỏi Nghiên Cứu</a:t>
            </a:r>
            <a:endParaRPr lang="en-US" sz="3850" dirty="0"/>
          </a:p>
        </p:txBody>
      </p:sp>
      <p:pic>
        <p:nvPicPr>
          <p:cNvPr id="3" name="Image 0" descr="preencoded.png">    </p:cNvPr>
          <p:cNvPicPr>
            <a:picLocks noChangeAspect="1"/>
          </p:cNvPicPr>
          <p:nvPr/>
        </p:nvPicPr>
        <p:blipFill>
          <a:blip r:embed="rId1"/>
          <a:stretch>
            <a:fillRect/>
          </a:stretch>
        </p:blipFill>
        <p:spPr>
          <a:xfrm>
            <a:off x="691158" y="1555075"/>
            <a:ext cx="987385" cy="1184910"/>
          </a:xfrm>
          <a:prstGeom prst="rect">
            <a:avLst/>
          </a:prstGeom>
        </p:spPr>
      </p:pic>
      <p:sp>
        <p:nvSpPr>
          <p:cNvPr id="4" name="Text 1"/>
          <p:cNvSpPr/>
          <p:nvPr/>
        </p:nvSpPr>
        <p:spPr>
          <a:xfrm>
            <a:off x="1974771" y="1752481"/>
            <a:ext cx="7458908" cy="308491"/>
          </a:xfrm>
          <a:prstGeom prst="rect">
            <a:avLst/>
          </a:prstGeom>
          <a:noFill/>
          <a:ln/>
        </p:spPr>
        <p:txBody>
          <a:bodyPr wrap="none" lIns="0" tIns="0" rIns="0" bIns="0" rtlCol="0" anchor="t"/>
          <a:lstStyle/>
          <a:p>
            <a:pPr algn="l" indent="0" marL="0">
              <a:lnSpc>
                <a:spcPts val="2400"/>
              </a:lnSpc>
              <a:buNone/>
            </a:pPr>
            <a:r>
              <a:rPr lang="en-US" sz="1900" b="1" dirty="0">
                <a:solidFill>
                  <a:srgbClr val="333F70"/>
                </a:solidFill>
                <a:latin typeface="Unbounded Bold" pitchFamily="34" charset="0"/>
                <a:ea typeface="Unbounded Bold" pitchFamily="34" charset="-122"/>
                <a:cs typeface="Unbounded Bold" pitchFamily="34" charset="-120"/>
              </a:rPr>
              <a:t>Thách thức nào được cải thiện bằng Blockchain?</a:t>
            </a:r>
            <a:endParaRPr lang="en-US" sz="1900" dirty="0"/>
          </a:p>
        </p:txBody>
      </p:sp>
      <p:sp>
        <p:nvSpPr>
          <p:cNvPr id="5" name="Text 2"/>
          <p:cNvSpPr/>
          <p:nvPr/>
        </p:nvSpPr>
        <p:spPr>
          <a:xfrm>
            <a:off x="1974771" y="2179439"/>
            <a:ext cx="11964472" cy="315992"/>
          </a:xfrm>
          <a:prstGeom prst="rect">
            <a:avLst/>
          </a:prstGeom>
          <a:noFill/>
          <a:ln/>
        </p:spPr>
        <p:txBody>
          <a:bodyPr wrap="none" lIns="0" tIns="0" rIns="0" bIns="0" rtlCol="0" anchor="t"/>
          <a:lstStyle/>
          <a:p>
            <a:pPr algn="l" indent="0" marL="0">
              <a:lnSpc>
                <a:spcPts val="2450"/>
              </a:lnSpc>
              <a:buNone/>
            </a:pPr>
            <a:r>
              <a:rPr lang="en-US" sz="1550" dirty="0">
                <a:solidFill>
                  <a:srgbClr val="333F70"/>
                </a:solidFill>
                <a:latin typeface="Open Sans" pitchFamily="34" charset="0"/>
                <a:ea typeface="Open Sans" pitchFamily="34" charset="-122"/>
                <a:cs typeface="Open Sans" pitchFamily="34" charset="-120"/>
              </a:rPr>
              <a:t>Xác định các vấn đề trong chuỗi cung ứng hiện tại có thể được giải quyết hiệu quả thông qua ứng dụng công nghệ Blockchain.</a:t>
            </a:r>
            <a:endParaRPr lang="en-US" sz="1550" dirty="0"/>
          </a:p>
        </p:txBody>
      </p:sp>
      <p:pic>
        <p:nvPicPr>
          <p:cNvPr id="6" name="Image 1" descr="preencoded.png">    </p:cNvPr>
          <p:cNvPicPr>
            <a:picLocks noChangeAspect="1"/>
          </p:cNvPicPr>
          <p:nvPr/>
        </p:nvPicPr>
        <p:blipFill>
          <a:blip r:embed="rId2"/>
          <a:stretch>
            <a:fillRect/>
          </a:stretch>
        </p:blipFill>
        <p:spPr>
          <a:xfrm>
            <a:off x="691158" y="2739985"/>
            <a:ext cx="987385" cy="1184910"/>
          </a:xfrm>
          <a:prstGeom prst="rect">
            <a:avLst/>
          </a:prstGeom>
        </p:spPr>
      </p:pic>
      <p:sp>
        <p:nvSpPr>
          <p:cNvPr id="7" name="Text 3"/>
          <p:cNvSpPr/>
          <p:nvPr/>
        </p:nvSpPr>
        <p:spPr>
          <a:xfrm>
            <a:off x="1974771" y="2937391"/>
            <a:ext cx="6080165" cy="308491"/>
          </a:xfrm>
          <a:prstGeom prst="rect">
            <a:avLst/>
          </a:prstGeom>
          <a:noFill/>
          <a:ln/>
        </p:spPr>
        <p:txBody>
          <a:bodyPr wrap="none" lIns="0" tIns="0" rIns="0" bIns="0" rtlCol="0" anchor="t"/>
          <a:lstStyle/>
          <a:p>
            <a:pPr algn="l" indent="0" marL="0">
              <a:lnSpc>
                <a:spcPts val="2400"/>
              </a:lnSpc>
              <a:buNone/>
            </a:pPr>
            <a:r>
              <a:rPr lang="en-US" sz="1900" b="1" dirty="0">
                <a:solidFill>
                  <a:srgbClr val="333F70"/>
                </a:solidFill>
                <a:latin typeface="Unbounded Bold" pitchFamily="34" charset="0"/>
                <a:ea typeface="Unbounded Bold" pitchFamily="34" charset="-122"/>
                <a:cs typeface="Unbounded Bold" pitchFamily="34" charset="-120"/>
              </a:rPr>
              <a:t>Khâu nào tích hợp Blockchain hiệu quả?</a:t>
            </a:r>
            <a:endParaRPr lang="en-US" sz="1900" dirty="0"/>
          </a:p>
        </p:txBody>
      </p:sp>
      <p:sp>
        <p:nvSpPr>
          <p:cNvPr id="8" name="Text 4"/>
          <p:cNvSpPr/>
          <p:nvPr/>
        </p:nvSpPr>
        <p:spPr>
          <a:xfrm>
            <a:off x="1974771" y="3364349"/>
            <a:ext cx="11964472" cy="315992"/>
          </a:xfrm>
          <a:prstGeom prst="rect">
            <a:avLst/>
          </a:prstGeom>
          <a:noFill/>
          <a:ln/>
        </p:spPr>
        <p:txBody>
          <a:bodyPr wrap="none" lIns="0" tIns="0" rIns="0" bIns="0" rtlCol="0" anchor="t"/>
          <a:lstStyle/>
          <a:p>
            <a:pPr algn="l" indent="0" marL="0">
              <a:lnSpc>
                <a:spcPts val="2450"/>
              </a:lnSpc>
              <a:buNone/>
            </a:pPr>
            <a:r>
              <a:rPr lang="en-US" sz="1550" dirty="0">
                <a:solidFill>
                  <a:srgbClr val="333F70"/>
                </a:solidFill>
                <a:latin typeface="Open Sans" pitchFamily="34" charset="0"/>
                <a:ea typeface="Open Sans" pitchFamily="34" charset="-122"/>
                <a:cs typeface="Open Sans" pitchFamily="34" charset="-120"/>
              </a:rPr>
              <a:t>Phân tích các khâu cụ thể trong quy trình logistics nên được ưu tiên tích hợp công nghệ Blockchain để mang lại lợi ích tối đa.</a:t>
            </a:r>
            <a:endParaRPr lang="en-US" sz="1550" dirty="0"/>
          </a:p>
        </p:txBody>
      </p:sp>
      <p:pic>
        <p:nvPicPr>
          <p:cNvPr id="9" name="Image 2" descr="preencoded.png">    </p:cNvPr>
          <p:cNvPicPr>
            <a:picLocks noChangeAspect="1"/>
          </p:cNvPicPr>
          <p:nvPr/>
        </p:nvPicPr>
        <p:blipFill>
          <a:blip r:embed="rId3"/>
          <a:stretch>
            <a:fillRect/>
          </a:stretch>
        </p:blipFill>
        <p:spPr>
          <a:xfrm>
            <a:off x="691158" y="3924895"/>
            <a:ext cx="987385" cy="1453753"/>
          </a:xfrm>
          <a:prstGeom prst="rect">
            <a:avLst/>
          </a:prstGeom>
        </p:spPr>
      </p:pic>
      <p:sp>
        <p:nvSpPr>
          <p:cNvPr id="10" name="Text 5"/>
          <p:cNvSpPr/>
          <p:nvPr/>
        </p:nvSpPr>
        <p:spPr>
          <a:xfrm>
            <a:off x="1974771" y="4122301"/>
            <a:ext cx="5547003" cy="308491"/>
          </a:xfrm>
          <a:prstGeom prst="rect">
            <a:avLst/>
          </a:prstGeom>
          <a:noFill/>
          <a:ln/>
        </p:spPr>
        <p:txBody>
          <a:bodyPr wrap="none" lIns="0" tIns="0" rIns="0" bIns="0" rtlCol="0" anchor="t"/>
          <a:lstStyle/>
          <a:p>
            <a:pPr algn="l" indent="0" marL="0">
              <a:lnSpc>
                <a:spcPts val="2400"/>
              </a:lnSpc>
              <a:buNone/>
            </a:pPr>
            <a:r>
              <a:rPr lang="en-US" sz="1900" b="1" dirty="0">
                <a:solidFill>
                  <a:srgbClr val="333F70"/>
                </a:solidFill>
                <a:latin typeface="Unbounded Bold" pitchFamily="34" charset="0"/>
                <a:ea typeface="Unbounded Bold" pitchFamily="34" charset="-122"/>
                <a:cs typeface="Unbounded Bold" pitchFamily="34" charset="-120"/>
              </a:rPr>
              <a:t>Lợi ích và rào cản khi triển khai là gì?</a:t>
            </a:r>
            <a:endParaRPr lang="en-US" sz="1900" dirty="0"/>
          </a:p>
        </p:txBody>
      </p:sp>
      <p:sp>
        <p:nvSpPr>
          <p:cNvPr id="11" name="Text 6"/>
          <p:cNvSpPr/>
          <p:nvPr/>
        </p:nvSpPr>
        <p:spPr>
          <a:xfrm>
            <a:off x="1974771" y="4549259"/>
            <a:ext cx="11964472" cy="631984"/>
          </a:xfrm>
          <a:prstGeom prst="rect">
            <a:avLst/>
          </a:prstGeom>
          <a:noFill/>
          <a:ln/>
        </p:spPr>
        <p:txBody>
          <a:bodyPr wrap="square" lIns="0" tIns="0" rIns="0" bIns="0" rtlCol="0" anchor="t"/>
          <a:lstStyle/>
          <a:p>
            <a:pPr algn="l" indent="0" marL="0">
              <a:lnSpc>
                <a:spcPts val="2450"/>
              </a:lnSpc>
              <a:buNone/>
            </a:pPr>
            <a:r>
              <a:rPr lang="en-US" sz="1550" dirty="0">
                <a:solidFill>
                  <a:srgbClr val="333F70"/>
                </a:solidFill>
                <a:latin typeface="Open Sans" pitchFamily="34" charset="0"/>
                <a:ea typeface="Open Sans" pitchFamily="34" charset="-122"/>
                <a:cs typeface="Open Sans" pitchFamily="34" charset="-120"/>
              </a:rPr>
              <a:t>Đánh giá toàn diện những giá trị mang lại cũng như những thách thức cần vượt qua khi triển khai Blockchain trong môi trường logistics Việt Nam.</a:t>
            </a:r>
            <a:endParaRPr lang="en-US" sz="1550" dirty="0"/>
          </a:p>
        </p:txBody>
      </p:sp>
      <p:pic>
        <p:nvPicPr>
          <p:cNvPr id="12" name="Image 3" descr="preencoded.png">    </p:cNvPr>
          <p:cNvPicPr>
            <a:picLocks noChangeAspect="1"/>
          </p:cNvPicPr>
          <p:nvPr/>
        </p:nvPicPr>
        <p:blipFill>
          <a:blip r:embed="rId4"/>
          <a:stretch>
            <a:fillRect/>
          </a:stretch>
        </p:blipFill>
        <p:spPr>
          <a:xfrm>
            <a:off x="691158" y="5378648"/>
            <a:ext cx="987385" cy="1453753"/>
          </a:xfrm>
          <a:prstGeom prst="rect">
            <a:avLst/>
          </a:prstGeom>
        </p:spPr>
      </p:pic>
      <p:sp>
        <p:nvSpPr>
          <p:cNvPr id="13" name="Text 7"/>
          <p:cNvSpPr/>
          <p:nvPr/>
        </p:nvSpPr>
        <p:spPr>
          <a:xfrm>
            <a:off x="1974771" y="5576054"/>
            <a:ext cx="6171009" cy="308491"/>
          </a:xfrm>
          <a:prstGeom prst="rect">
            <a:avLst/>
          </a:prstGeom>
          <a:noFill/>
          <a:ln/>
        </p:spPr>
        <p:txBody>
          <a:bodyPr wrap="none" lIns="0" tIns="0" rIns="0" bIns="0" rtlCol="0" anchor="t"/>
          <a:lstStyle/>
          <a:p>
            <a:pPr algn="l" indent="0" marL="0">
              <a:lnSpc>
                <a:spcPts val="2400"/>
              </a:lnSpc>
              <a:buNone/>
            </a:pPr>
            <a:r>
              <a:rPr lang="en-US" sz="1900" b="1" dirty="0">
                <a:solidFill>
                  <a:srgbClr val="333F70"/>
                </a:solidFill>
                <a:latin typeface="Unbounded Bold" pitchFamily="34" charset="0"/>
                <a:ea typeface="Unbounded Bold" pitchFamily="34" charset="-122"/>
                <a:cs typeface="Unbounded Bold" pitchFamily="34" charset="-120"/>
              </a:rPr>
              <a:t>Mô hình mô phỏng giúp gì cho giải pháp?</a:t>
            </a:r>
            <a:endParaRPr lang="en-US" sz="1900" dirty="0"/>
          </a:p>
        </p:txBody>
      </p:sp>
      <p:sp>
        <p:nvSpPr>
          <p:cNvPr id="14" name="Text 8"/>
          <p:cNvSpPr/>
          <p:nvPr/>
        </p:nvSpPr>
        <p:spPr>
          <a:xfrm>
            <a:off x="1974771" y="6003012"/>
            <a:ext cx="11964472" cy="631984"/>
          </a:xfrm>
          <a:prstGeom prst="rect">
            <a:avLst/>
          </a:prstGeom>
          <a:noFill/>
          <a:ln/>
        </p:spPr>
        <p:txBody>
          <a:bodyPr wrap="square" lIns="0" tIns="0" rIns="0" bIns="0" rtlCol="0" anchor="t"/>
          <a:lstStyle/>
          <a:p>
            <a:pPr algn="l" indent="0" marL="0">
              <a:lnSpc>
                <a:spcPts val="2450"/>
              </a:lnSpc>
              <a:buNone/>
            </a:pPr>
            <a:r>
              <a:rPr lang="en-US" sz="1550" dirty="0">
                <a:solidFill>
                  <a:srgbClr val="333F70"/>
                </a:solidFill>
                <a:latin typeface="Open Sans" pitchFamily="34" charset="0"/>
                <a:ea typeface="Open Sans" pitchFamily="34" charset="-122"/>
                <a:cs typeface="Open Sans" pitchFamily="34" charset="-120"/>
              </a:rPr>
              <a:t>Làm rõ vai trò của mô hình mô phỏng trong việc minh họa, kiểm nghiệm và đánh giá tính khả thi của giải pháp trước khi triển khai thực tế.</a:t>
            </a:r>
            <a:endParaRPr lang="en-US" sz="1550" dirty="0"/>
          </a:p>
        </p:txBody>
      </p:sp>
      <p:sp>
        <p:nvSpPr>
          <p:cNvPr id="15" name="Text 9"/>
          <p:cNvSpPr/>
          <p:nvPr/>
        </p:nvSpPr>
        <p:spPr>
          <a:xfrm>
            <a:off x="691158" y="7054572"/>
            <a:ext cx="13248084" cy="631984"/>
          </a:xfrm>
          <a:prstGeom prst="rect">
            <a:avLst/>
          </a:prstGeom>
          <a:noFill/>
          <a:ln/>
        </p:spPr>
        <p:txBody>
          <a:bodyPr wrap="square" lIns="0" tIns="0" rIns="0" bIns="0" rtlCol="0" anchor="t"/>
          <a:lstStyle/>
          <a:p>
            <a:pPr algn="l" indent="0" marL="0">
              <a:lnSpc>
                <a:spcPts val="2450"/>
              </a:lnSpc>
              <a:buNone/>
            </a:pPr>
            <a:r>
              <a:rPr lang="en-US" sz="1550" dirty="0">
                <a:solidFill>
                  <a:srgbClr val="333F70"/>
                </a:solidFill>
                <a:latin typeface="Open Sans" pitchFamily="34" charset="0"/>
                <a:ea typeface="Open Sans" pitchFamily="34" charset="-122"/>
                <a:cs typeface="Open Sans" pitchFamily="34" charset="-120"/>
              </a:rPr>
              <a:t>Các câu hỏi nghiên cứu này sẽ được giải quyết thông qua phân tích tài liệu, khảo sát thực tế và phát triển mô hình mô phỏng, nhằm đảm bảo tính toàn diện và thực tiễn của nghiên cứu.</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798552"/>
            <a:ext cx="11887795" cy="708779"/>
          </a:xfrm>
          <a:prstGeom prst="rect">
            <a:avLst/>
          </a:prstGeom>
          <a:noFill/>
          <a:ln/>
        </p:spPr>
        <p:txBody>
          <a:bodyPr wrap="none" lIns="0" tIns="0" rIns="0" bIns="0" rtlCol="0" anchor="t"/>
          <a:lstStyle/>
          <a:p>
            <a:pPr algn="l"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Đối Tượng Và Phạm Vi Nghiên Cứu</a:t>
            </a:r>
            <a:endParaRPr lang="en-US" sz="4450" dirty="0"/>
          </a:p>
        </p:txBody>
      </p:sp>
      <p:sp>
        <p:nvSpPr>
          <p:cNvPr id="3" name="Shape 1"/>
          <p:cNvSpPr/>
          <p:nvPr/>
        </p:nvSpPr>
        <p:spPr>
          <a:xfrm>
            <a:off x="793790" y="1960959"/>
            <a:ext cx="4196358" cy="4126111"/>
          </a:xfrm>
          <a:prstGeom prst="roundRect">
            <a:avLst>
              <a:gd name="adj" fmla="val 2309"/>
            </a:avLst>
          </a:prstGeom>
          <a:solidFill>
            <a:srgbClr val="D6F5EE"/>
          </a:solidFill>
          <a:ln w="7620">
            <a:solidFill>
              <a:srgbClr val="BCDBD4"/>
            </a:solidFill>
            <a:prstDash val="solid"/>
          </a:ln>
        </p:spPr>
      </p:sp>
      <p:sp>
        <p:nvSpPr>
          <p:cNvPr id="4" name="Text 2"/>
          <p:cNvSpPr/>
          <p:nvPr/>
        </p:nvSpPr>
        <p:spPr>
          <a:xfrm>
            <a:off x="1028224" y="2195393"/>
            <a:ext cx="3727490" cy="708660"/>
          </a:xfrm>
          <a:prstGeom prst="rect">
            <a:avLst/>
          </a:prstGeom>
          <a:noFill/>
          <a:ln/>
        </p:spPr>
        <p:txBody>
          <a:bodyPr wrap="squar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Đối tượng nghiên cứu</a:t>
            </a:r>
            <a:endParaRPr lang="en-US" sz="2200" dirty="0"/>
          </a:p>
        </p:txBody>
      </p:sp>
      <p:sp>
        <p:nvSpPr>
          <p:cNvPr id="5" name="Text 3"/>
          <p:cNvSpPr/>
          <p:nvPr/>
        </p:nvSpPr>
        <p:spPr>
          <a:xfrm>
            <a:off x="1028224" y="3040142"/>
            <a:ext cx="3727490" cy="725805"/>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Hệ thống quản lý chuỗi cung ứng phân phối hiện tại tại Việt Nam</a:t>
            </a:r>
            <a:endParaRPr lang="en-US" sz="1750" dirty="0"/>
          </a:p>
        </p:txBody>
      </p:sp>
      <p:sp>
        <p:nvSpPr>
          <p:cNvPr id="6" name="Text 4"/>
          <p:cNvSpPr/>
          <p:nvPr/>
        </p:nvSpPr>
        <p:spPr>
          <a:xfrm>
            <a:off x="1028224" y="3902035"/>
            <a:ext cx="3727490" cy="1088708"/>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Các ứng dụng và công nghệ Blockchain tiềm năng có thể tích hợp vào hệ thống</a:t>
            </a:r>
            <a:endParaRPr lang="en-US" sz="1750" dirty="0"/>
          </a:p>
        </p:txBody>
      </p:sp>
      <p:sp>
        <p:nvSpPr>
          <p:cNvPr id="7" name="Text 5"/>
          <p:cNvSpPr/>
          <p:nvPr/>
        </p:nvSpPr>
        <p:spPr>
          <a:xfrm>
            <a:off x="1028224" y="5126831"/>
            <a:ext cx="3727490" cy="725805"/>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Mối tương tác giữa các bên tham gia trong chuỗi cung ứng</a:t>
            </a:r>
            <a:endParaRPr lang="en-US" sz="1750" dirty="0"/>
          </a:p>
        </p:txBody>
      </p:sp>
      <p:sp>
        <p:nvSpPr>
          <p:cNvPr id="8" name="Shape 6"/>
          <p:cNvSpPr/>
          <p:nvPr/>
        </p:nvSpPr>
        <p:spPr>
          <a:xfrm>
            <a:off x="5216962" y="1960959"/>
            <a:ext cx="4196358" cy="4126111"/>
          </a:xfrm>
          <a:prstGeom prst="roundRect">
            <a:avLst>
              <a:gd name="adj" fmla="val 2309"/>
            </a:avLst>
          </a:prstGeom>
          <a:solidFill>
            <a:srgbClr val="D6F5EE"/>
          </a:solidFill>
          <a:ln w="7620">
            <a:solidFill>
              <a:srgbClr val="BCDBD4"/>
            </a:solidFill>
            <a:prstDash val="solid"/>
          </a:ln>
        </p:spPr>
      </p:sp>
      <p:sp>
        <p:nvSpPr>
          <p:cNvPr id="9" name="Text 7"/>
          <p:cNvSpPr/>
          <p:nvPr/>
        </p:nvSpPr>
        <p:spPr>
          <a:xfrm>
            <a:off x="5451396" y="2195393"/>
            <a:ext cx="3424595" cy="354330"/>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Phạm vi không gian</a:t>
            </a:r>
            <a:endParaRPr lang="en-US" sz="2200" dirty="0"/>
          </a:p>
        </p:txBody>
      </p:sp>
      <p:sp>
        <p:nvSpPr>
          <p:cNvPr id="10" name="Text 8"/>
          <p:cNvSpPr/>
          <p:nvPr/>
        </p:nvSpPr>
        <p:spPr>
          <a:xfrm>
            <a:off x="5451396" y="2685812"/>
            <a:ext cx="3727490" cy="725805"/>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Tập trung vào chuỗi cung ứng thương mại điện tử tại TP.HCM</a:t>
            </a:r>
            <a:endParaRPr lang="en-US" sz="1750" dirty="0"/>
          </a:p>
        </p:txBody>
      </p:sp>
      <p:sp>
        <p:nvSpPr>
          <p:cNvPr id="11" name="Text 9"/>
          <p:cNvSpPr/>
          <p:nvPr/>
        </p:nvSpPr>
        <p:spPr>
          <a:xfrm>
            <a:off x="5451396" y="3547705"/>
            <a:ext cx="3727490" cy="725805"/>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Khảo sát các doanh nghiệp logistics và đơn vị vận chuyển</a:t>
            </a:r>
            <a:endParaRPr lang="en-US" sz="1750" dirty="0"/>
          </a:p>
        </p:txBody>
      </p:sp>
      <p:sp>
        <p:nvSpPr>
          <p:cNvPr id="12" name="Text 10"/>
          <p:cNvSpPr/>
          <p:nvPr/>
        </p:nvSpPr>
        <p:spPr>
          <a:xfrm>
            <a:off x="5451396" y="4409599"/>
            <a:ext cx="3727490" cy="725805"/>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Thu thập dữ liệu từ các trung tâm phân phối và kho hàng</a:t>
            </a:r>
            <a:endParaRPr lang="en-US" sz="1750" dirty="0"/>
          </a:p>
        </p:txBody>
      </p:sp>
      <p:sp>
        <p:nvSpPr>
          <p:cNvPr id="13" name="Shape 11"/>
          <p:cNvSpPr/>
          <p:nvPr/>
        </p:nvSpPr>
        <p:spPr>
          <a:xfrm>
            <a:off x="9640133" y="1960959"/>
            <a:ext cx="4196358" cy="4126111"/>
          </a:xfrm>
          <a:prstGeom prst="roundRect">
            <a:avLst>
              <a:gd name="adj" fmla="val 2309"/>
            </a:avLst>
          </a:prstGeom>
          <a:solidFill>
            <a:srgbClr val="D6F5EE"/>
          </a:solidFill>
          <a:ln w="7620">
            <a:solidFill>
              <a:srgbClr val="BCDBD4"/>
            </a:solidFill>
            <a:prstDash val="solid"/>
          </a:ln>
        </p:spPr>
      </p:sp>
      <p:sp>
        <p:nvSpPr>
          <p:cNvPr id="14" name="Text 12"/>
          <p:cNvSpPr/>
          <p:nvPr/>
        </p:nvSpPr>
        <p:spPr>
          <a:xfrm>
            <a:off x="9874568" y="2195393"/>
            <a:ext cx="3021925" cy="354330"/>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Phạm vi thời gian</a:t>
            </a:r>
            <a:endParaRPr lang="en-US" sz="2200" dirty="0"/>
          </a:p>
        </p:txBody>
      </p:sp>
      <p:sp>
        <p:nvSpPr>
          <p:cNvPr id="15" name="Text 13"/>
          <p:cNvSpPr/>
          <p:nvPr/>
        </p:nvSpPr>
        <p:spPr>
          <a:xfrm>
            <a:off x="9874568" y="2685812"/>
            <a:ext cx="3727490" cy="725805"/>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Nghiên cứu dữ liệu giai đoạn 2023-2024</a:t>
            </a:r>
            <a:endParaRPr lang="en-US" sz="1750" dirty="0"/>
          </a:p>
        </p:txBody>
      </p:sp>
      <p:sp>
        <p:nvSpPr>
          <p:cNvPr id="16" name="Text 14"/>
          <p:cNvSpPr/>
          <p:nvPr/>
        </p:nvSpPr>
        <p:spPr>
          <a:xfrm>
            <a:off x="9874568" y="3547705"/>
            <a:ext cx="3727490" cy="725805"/>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Dự báo và đề xuất giải pháp ứng dụng cho giai đoạn 2025-2027</a:t>
            </a:r>
            <a:endParaRPr lang="en-US" sz="1750" dirty="0"/>
          </a:p>
        </p:txBody>
      </p:sp>
      <p:sp>
        <p:nvSpPr>
          <p:cNvPr id="17" name="Text 15"/>
          <p:cNvSpPr/>
          <p:nvPr/>
        </p:nvSpPr>
        <p:spPr>
          <a:xfrm>
            <a:off x="9874568" y="4409599"/>
            <a:ext cx="3727490" cy="725805"/>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Triển khai thử nghiệm mô hình mô phỏng trong năm 2025</a:t>
            </a:r>
            <a:endParaRPr lang="en-US" sz="1750" dirty="0"/>
          </a:p>
        </p:txBody>
      </p:sp>
      <p:sp>
        <p:nvSpPr>
          <p:cNvPr id="18" name="Text 16"/>
          <p:cNvSpPr/>
          <p:nvPr/>
        </p:nvSpPr>
        <p:spPr>
          <a:xfrm>
            <a:off x="793790" y="6342221"/>
            <a:ext cx="13042821" cy="1088708"/>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Nghiên cứu đặc biệt tập trung vào các khâu lưu kho, vận chuyển, xác thực và bàn giao hàng hóa - những mắt xích quan trọng trong chuỗi cung ứng thương mại điện tử, nơi công nghệ Blockchain có thể phát huy tối đa tiềm năng của mình trong việc tạo ra minh bạch và hiệu quả.</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97944" y="873323"/>
            <a:ext cx="13073420" cy="623054"/>
          </a:xfrm>
          <a:prstGeom prst="rect">
            <a:avLst/>
          </a:prstGeom>
          <a:noFill/>
          <a:ln/>
        </p:spPr>
        <p:txBody>
          <a:bodyPr wrap="none" lIns="0" tIns="0" rIns="0" bIns="0" rtlCol="0" anchor="t"/>
          <a:lstStyle/>
          <a:p>
            <a:pPr algn="l" indent="0" marL="0">
              <a:lnSpc>
                <a:spcPts val="4900"/>
              </a:lnSpc>
              <a:buNone/>
            </a:pPr>
            <a:r>
              <a:rPr lang="en-US" sz="3900" b="1" dirty="0">
                <a:solidFill>
                  <a:srgbClr val="333F70"/>
                </a:solidFill>
                <a:latin typeface="Unbounded Bold" pitchFamily="34" charset="0"/>
                <a:ea typeface="Unbounded Bold" pitchFamily="34" charset="-122"/>
                <a:cs typeface="Unbounded Bold" pitchFamily="34" charset="-120"/>
              </a:rPr>
              <a:t>Cơ Sở Lý Thuyết Và Tổng Quan Nghiên Cứu</a:t>
            </a:r>
            <a:endParaRPr lang="en-US" sz="3900" dirty="0"/>
          </a:p>
        </p:txBody>
      </p:sp>
      <p:sp>
        <p:nvSpPr>
          <p:cNvPr id="3" name="Text 1"/>
          <p:cNvSpPr/>
          <p:nvPr/>
        </p:nvSpPr>
        <p:spPr>
          <a:xfrm>
            <a:off x="1022390" y="1895118"/>
            <a:ext cx="3677722" cy="311587"/>
          </a:xfrm>
          <a:prstGeom prst="rect">
            <a:avLst/>
          </a:prstGeom>
          <a:noFill/>
          <a:ln/>
        </p:spPr>
        <p:txBody>
          <a:bodyPr wrap="none" lIns="0" tIns="0" rIns="0" bIns="0" rtlCol="0" anchor="t"/>
          <a:lstStyle/>
          <a:p>
            <a:pPr algn="r" indent="0" marL="0">
              <a:lnSpc>
                <a:spcPts val="2450"/>
              </a:lnSpc>
              <a:buNone/>
            </a:pPr>
            <a:r>
              <a:rPr lang="en-US" sz="1950" b="1" dirty="0">
                <a:solidFill>
                  <a:srgbClr val="333F70"/>
                </a:solidFill>
                <a:latin typeface="Unbounded Bold" pitchFamily="34" charset="0"/>
                <a:ea typeface="Unbounded Bold" pitchFamily="34" charset="-122"/>
                <a:cs typeface="Unbounded Bold" pitchFamily="34" charset="-120"/>
              </a:rPr>
              <a:t>Lý thuyết về Blockchain</a:t>
            </a:r>
            <a:endParaRPr lang="en-US" sz="1950" dirty="0"/>
          </a:p>
        </p:txBody>
      </p:sp>
      <p:sp>
        <p:nvSpPr>
          <p:cNvPr id="4" name="Text 2"/>
          <p:cNvSpPr/>
          <p:nvPr/>
        </p:nvSpPr>
        <p:spPr>
          <a:xfrm>
            <a:off x="697944" y="2326243"/>
            <a:ext cx="4002167" cy="638175"/>
          </a:xfrm>
          <a:prstGeom prst="rect">
            <a:avLst/>
          </a:prstGeom>
          <a:noFill/>
          <a:ln/>
        </p:spPr>
        <p:txBody>
          <a:bodyPr wrap="square" lIns="0" tIns="0" rIns="0" bIns="0" rtlCol="0" anchor="t"/>
          <a:lstStyle/>
          <a:p>
            <a:pPr algn="r" indent="0" marL="0">
              <a:lnSpc>
                <a:spcPts val="2500"/>
              </a:lnSpc>
              <a:buNone/>
            </a:pPr>
            <a:r>
              <a:rPr lang="en-US" sz="1550" dirty="0">
                <a:solidFill>
                  <a:srgbClr val="333F70"/>
                </a:solidFill>
                <a:latin typeface="Open Sans" pitchFamily="34" charset="0"/>
                <a:ea typeface="Open Sans" pitchFamily="34" charset="-122"/>
                <a:cs typeface="Open Sans" pitchFamily="34" charset="-120"/>
              </a:rPr>
              <a:t>Nguyên lý hoạt động của công nghệ sổ cái phân tán</a:t>
            </a:r>
            <a:endParaRPr lang="en-US" sz="1550" dirty="0"/>
          </a:p>
        </p:txBody>
      </p:sp>
      <p:sp>
        <p:nvSpPr>
          <p:cNvPr id="5" name="Text 3"/>
          <p:cNvSpPr/>
          <p:nvPr/>
        </p:nvSpPr>
        <p:spPr>
          <a:xfrm>
            <a:off x="697944" y="3083957"/>
            <a:ext cx="4002167" cy="638175"/>
          </a:xfrm>
          <a:prstGeom prst="rect">
            <a:avLst/>
          </a:prstGeom>
          <a:noFill/>
          <a:ln/>
        </p:spPr>
        <p:txBody>
          <a:bodyPr wrap="square" lIns="0" tIns="0" rIns="0" bIns="0" rtlCol="0" anchor="t"/>
          <a:lstStyle/>
          <a:p>
            <a:pPr algn="r" indent="0" marL="0">
              <a:lnSpc>
                <a:spcPts val="2500"/>
              </a:lnSpc>
              <a:buNone/>
            </a:pPr>
            <a:r>
              <a:rPr lang="en-US" sz="1550" dirty="0">
                <a:solidFill>
                  <a:srgbClr val="333F70"/>
                </a:solidFill>
                <a:latin typeface="Open Sans" pitchFamily="34" charset="0"/>
                <a:ea typeface="Open Sans" pitchFamily="34" charset="-122"/>
                <a:cs typeface="Open Sans" pitchFamily="34" charset="-120"/>
              </a:rPr>
              <a:t>Cơ chế đồng thuận và bảo mật trong Blockchain</a:t>
            </a:r>
            <a:endParaRPr lang="en-US" sz="1550" dirty="0"/>
          </a:p>
        </p:txBody>
      </p:sp>
      <p:sp>
        <p:nvSpPr>
          <p:cNvPr id="6" name="Text 4"/>
          <p:cNvSpPr/>
          <p:nvPr/>
        </p:nvSpPr>
        <p:spPr>
          <a:xfrm>
            <a:off x="697944" y="3841671"/>
            <a:ext cx="4002167" cy="638175"/>
          </a:xfrm>
          <a:prstGeom prst="rect">
            <a:avLst/>
          </a:prstGeom>
          <a:noFill/>
          <a:ln/>
        </p:spPr>
        <p:txBody>
          <a:bodyPr wrap="square" lIns="0" tIns="0" rIns="0" bIns="0" rtlCol="0" anchor="t"/>
          <a:lstStyle/>
          <a:p>
            <a:pPr algn="r" indent="0" marL="0">
              <a:lnSpc>
                <a:spcPts val="2500"/>
              </a:lnSpc>
              <a:buNone/>
            </a:pPr>
            <a:r>
              <a:rPr lang="en-US" sz="1550" dirty="0">
                <a:solidFill>
                  <a:srgbClr val="333F70"/>
                </a:solidFill>
                <a:latin typeface="Open Sans" pitchFamily="34" charset="0"/>
                <a:ea typeface="Open Sans" pitchFamily="34" charset="-122"/>
                <a:cs typeface="Open Sans" pitchFamily="34" charset="-120"/>
              </a:rPr>
              <a:t>Hợp đồng thông minh (Smart Contracts) và ứng dụng</a:t>
            </a:r>
            <a:endParaRPr lang="en-US" sz="1550" dirty="0"/>
          </a:p>
        </p:txBody>
      </p:sp>
      <p:pic>
        <p:nvPicPr>
          <p:cNvPr id="7" name="Image 0" descr="preencoded.png">    </p:cNvPr>
          <p:cNvPicPr>
            <a:picLocks noChangeAspect="1"/>
          </p:cNvPicPr>
          <p:nvPr/>
        </p:nvPicPr>
        <p:blipFill>
          <a:blip r:embed="rId1"/>
          <a:stretch>
            <a:fillRect/>
          </a:stretch>
        </p:blipFill>
        <p:spPr>
          <a:xfrm>
            <a:off x="4999196" y="2309574"/>
            <a:ext cx="4632008" cy="4632007"/>
          </a:xfrm>
          <a:prstGeom prst="rect">
            <a:avLst/>
          </a:prstGeom>
        </p:spPr>
      </p:pic>
      <p:pic>
        <p:nvPicPr>
          <p:cNvPr id="8" name="Image 1" descr="preencoded.png">    </p:cNvPr>
          <p:cNvPicPr>
            <a:picLocks noChangeAspect="1"/>
          </p:cNvPicPr>
          <p:nvPr/>
        </p:nvPicPr>
        <p:blipFill>
          <a:blip r:embed="rId2"/>
          <a:stretch>
            <a:fillRect/>
          </a:stretch>
        </p:blipFill>
        <p:spPr>
          <a:xfrm>
            <a:off x="6019502" y="3292614"/>
            <a:ext cx="298371" cy="372904"/>
          </a:xfrm>
          <a:prstGeom prst="rect">
            <a:avLst/>
          </a:prstGeom>
        </p:spPr>
      </p:pic>
      <p:sp>
        <p:nvSpPr>
          <p:cNvPr id="9" name="Text 5"/>
          <p:cNvSpPr/>
          <p:nvPr/>
        </p:nvSpPr>
        <p:spPr>
          <a:xfrm>
            <a:off x="9930289" y="2058352"/>
            <a:ext cx="4002167" cy="623173"/>
          </a:xfrm>
          <a:prstGeom prst="rect">
            <a:avLst/>
          </a:prstGeom>
          <a:noFill/>
          <a:ln/>
        </p:spPr>
        <p:txBody>
          <a:bodyPr wrap="square" lIns="0" tIns="0" rIns="0" bIns="0" rtlCol="0" anchor="t"/>
          <a:lstStyle/>
          <a:p>
            <a:pPr algn="l" indent="0" marL="0">
              <a:lnSpc>
                <a:spcPts val="2450"/>
              </a:lnSpc>
              <a:buNone/>
            </a:pPr>
            <a:r>
              <a:rPr lang="en-US" sz="1950" b="1" dirty="0">
                <a:solidFill>
                  <a:srgbClr val="333F70"/>
                </a:solidFill>
                <a:latin typeface="Unbounded Bold" pitchFamily="34" charset="0"/>
                <a:ea typeface="Unbounded Bold" pitchFamily="34" charset="-122"/>
                <a:cs typeface="Unbounded Bold" pitchFamily="34" charset="-120"/>
              </a:rPr>
              <a:t>Quản lý chuỗi cung ứng (SCM)</a:t>
            </a:r>
            <a:endParaRPr lang="en-US" sz="1950" dirty="0"/>
          </a:p>
        </p:txBody>
      </p:sp>
      <p:sp>
        <p:nvSpPr>
          <p:cNvPr id="10" name="Text 6"/>
          <p:cNvSpPr/>
          <p:nvPr/>
        </p:nvSpPr>
        <p:spPr>
          <a:xfrm>
            <a:off x="9930289" y="2801064"/>
            <a:ext cx="4002167" cy="319088"/>
          </a:xfrm>
          <a:prstGeom prst="rect">
            <a:avLst/>
          </a:prstGeom>
          <a:noFill/>
          <a:ln/>
        </p:spPr>
        <p:txBody>
          <a:bodyPr wrap="none" lIns="0" tIns="0" rIns="0" bIns="0" rtlCol="0" anchor="t"/>
          <a:lstStyle/>
          <a:p>
            <a:pPr algn="l" indent="0" marL="0">
              <a:lnSpc>
                <a:spcPts val="2500"/>
              </a:lnSpc>
              <a:buNone/>
            </a:pPr>
            <a:r>
              <a:rPr lang="en-US" sz="1550" dirty="0">
                <a:solidFill>
                  <a:srgbClr val="333F70"/>
                </a:solidFill>
                <a:latin typeface="Open Sans" pitchFamily="34" charset="0"/>
                <a:ea typeface="Open Sans" pitchFamily="34" charset="-122"/>
                <a:cs typeface="Open Sans" pitchFamily="34" charset="-120"/>
              </a:rPr>
              <a:t>Lý thuyết về tối ưu hóa chuỗi cung ứng</a:t>
            </a:r>
            <a:endParaRPr lang="en-US" sz="1550" dirty="0"/>
          </a:p>
        </p:txBody>
      </p:sp>
      <p:sp>
        <p:nvSpPr>
          <p:cNvPr id="11" name="Text 7"/>
          <p:cNvSpPr/>
          <p:nvPr/>
        </p:nvSpPr>
        <p:spPr>
          <a:xfrm>
            <a:off x="9930289" y="3239691"/>
            <a:ext cx="4002167" cy="319088"/>
          </a:xfrm>
          <a:prstGeom prst="rect">
            <a:avLst/>
          </a:prstGeom>
          <a:noFill/>
          <a:ln/>
        </p:spPr>
        <p:txBody>
          <a:bodyPr wrap="none" lIns="0" tIns="0" rIns="0" bIns="0" rtlCol="0" anchor="t"/>
          <a:lstStyle/>
          <a:p>
            <a:pPr algn="l" indent="0" marL="0">
              <a:lnSpc>
                <a:spcPts val="2500"/>
              </a:lnSpc>
              <a:buNone/>
            </a:pPr>
            <a:r>
              <a:rPr lang="en-US" sz="1550" dirty="0">
                <a:solidFill>
                  <a:srgbClr val="333F70"/>
                </a:solidFill>
                <a:latin typeface="Open Sans" pitchFamily="34" charset="0"/>
                <a:ea typeface="Open Sans" pitchFamily="34" charset="-122"/>
                <a:cs typeface="Open Sans" pitchFamily="34" charset="-120"/>
              </a:rPr>
              <a:t>Mô hình quản lý phân phối hiện đại</a:t>
            </a:r>
            <a:endParaRPr lang="en-US" sz="1550" dirty="0"/>
          </a:p>
        </p:txBody>
      </p:sp>
      <p:sp>
        <p:nvSpPr>
          <p:cNvPr id="12" name="Text 8"/>
          <p:cNvSpPr/>
          <p:nvPr/>
        </p:nvSpPr>
        <p:spPr>
          <a:xfrm>
            <a:off x="9930289" y="3678317"/>
            <a:ext cx="4002167" cy="638175"/>
          </a:xfrm>
          <a:prstGeom prst="rect">
            <a:avLst/>
          </a:prstGeom>
          <a:noFill/>
          <a:ln/>
        </p:spPr>
        <p:txBody>
          <a:bodyPr wrap="square" lIns="0" tIns="0" rIns="0" bIns="0" rtlCol="0" anchor="t"/>
          <a:lstStyle/>
          <a:p>
            <a:pPr algn="l" indent="0" marL="0">
              <a:lnSpc>
                <a:spcPts val="2500"/>
              </a:lnSpc>
              <a:buNone/>
            </a:pPr>
            <a:r>
              <a:rPr lang="en-US" sz="1550" dirty="0">
                <a:solidFill>
                  <a:srgbClr val="333F70"/>
                </a:solidFill>
                <a:latin typeface="Open Sans" pitchFamily="34" charset="0"/>
                <a:ea typeface="Open Sans" pitchFamily="34" charset="-122"/>
                <a:cs typeface="Open Sans" pitchFamily="34" charset="-120"/>
              </a:rPr>
              <a:t>Các thách thức trong quản lý chuỗi cung ứng</a:t>
            </a:r>
            <a:endParaRPr lang="en-US" sz="1550" dirty="0"/>
          </a:p>
        </p:txBody>
      </p:sp>
      <p:pic>
        <p:nvPicPr>
          <p:cNvPr id="13" name="Image 2" descr="preencoded.png">    </p:cNvPr>
          <p:cNvPicPr>
            <a:picLocks noChangeAspect="1"/>
          </p:cNvPicPr>
          <p:nvPr/>
        </p:nvPicPr>
        <p:blipFill>
          <a:blip r:embed="rId3"/>
          <a:stretch>
            <a:fillRect/>
          </a:stretch>
        </p:blipFill>
        <p:spPr>
          <a:xfrm>
            <a:off x="4999196" y="2309574"/>
            <a:ext cx="4632008" cy="4632007"/>
          </a:xfrm>
          <a:prstGeom prst="rect">
            <a:avLst/>
          </a:prstGeom>
        </p:spPr>
      </p:pic>
      <p:pic>
        <p:nvPicPr>
          <p:cNvPr id="14" name="Image 3" descr="preencoded.png">    </p:cNvPr>
          <p:cNvPicPr>
            <a:picLocks noChangeAspect="1"/>
          </p:cNvPicPr>
          <p:nvPr/>
        </p:nvPicPr>
        <p:blipFill>
          <a:blip r:embed="rId4"/>
          <a:stretch>
            <a:fillRect/>
          </a:stretch>
        </p:blipFill>
        <p:spPr>
          <a:xfrm>
            <a:off x="8312289" y="3292614"/>
            <a:ext cx="298371" cy="372904"/>
          </a:xfrm>
          <a:prstGeom prst="rect">
            <a:avLst/>
          </a:prstGeom>
        </p:spPr>
      </p:pic>
      <p:sp>
        <p:nvSpPr>
          <p:cNvPr id="15" name="Text 9"/>
          <p:cNvSpPr/>
          <p:nvPr/>
        </p:nvSpPr>
        <p:spPr>
          <a:xfrm>
            <a:off x="9930289" y="4778931"/>
            <a:ext cx="4002167" cy="623173"/>
          </a:xfrm>
          <a:prstGeom prst="rect">
            <a:avLst/>
          </a:prstGeom>
          <a:noFill/>
          <a:ln/>
        </p:spPr>
        <p:txBody>
          <a:bodyPr wrap="square" lIns="0" tIns="0" rIns="0" bIns="0" rtlCol="0" anchor="t"/>
          <a:lstStyle/>
          <a:p>
            <a:pPr algn="l" indent="0" marL="0">
              <a:lnSpc>
                <a:spcPts val="2450"/>
              </a:lnSpc>
              <a:buNone/>
            </a:pPr>
            <a:r>
              <a:rPr lang="en-US" sz="1950" b="1" dirty="0">
                <a:solidFill>
                  <a:srgbClr val="333F70"/>
                </a:solidFill>
                <a:latin typeface="Unbounded Bold" pitchFamily="34" charset="0"/>
                <a:ea typeface="Unbounded Bold" pitchFamily="34" charset="-122"/>
                <a:cs typeface="Unbounded Bold" pitchFamily="34" charset="-120"/>
              </a:rPr>
              <a:t>Mô hình quốc tế thành công</a:t>
            </a:r>
            <a:endParaRPr lang="en-US" sz="1950" dirty="0"/>
          </a:p>
        </p:txBody>
      </p:sp>
      <p:sp>
        <p:nvSpPr>
          <p:cNvPr id="16" name="Text 10"/>
          <p:cNvSpPr/>
          <p:nvPr/>
        </p:nvSpPr>
        <p:spPr>
          <a:xfrm>
            <a:off x="9930289" y="5521642"/>
            <a:ext cx="4002167" cy="638175"/>
          </a:xfrm>
          <a:prstGeom prst="rect">
            <a:avLst/>
          </a:prstGeom>
          <a:noFill/>
          <a:ln/>
        </p:spPr>
        <p:txBody>
          <a:bodyPr wrap="square" lIns="0" tIns="0" rIns="0" bIns="0" rtlCol="0" anchor="t"/>
          <a:lstStyle/>
          <a:p>
            <a:pPr algn="l" indent="0" marL="0">
              <a:lnSpc>
                <a:spcPts val="2500"/>
              </a:lnSpc>
              <a:buNone/>
            </a:pPr>
            <a:r>
              <a:rPr lang="en-US" sz="1550" dirty="0">
                <a:solidFill>
                  <a:srgbClr val="333F70"/>
                </a:solidFill>
                <a:latin typeface="Open Sans" pitchFamily="34" charset="0"/>
                <a:ea typeface="Open Sans" pitchFamily="34" charset="-122"/>
                <a:cs typeface="Open Sans" pitchFamily="34" charset="-120"/>
              </a:rPr>
              <a:t>IBM Food Trust: Truy xuất nguồn gốc thực phẩm</a:t>
            </a:r>
            <a:endParaRPr lang="en-US" sz="1550" dirty="0"/>
          </a:p>
        </p:txBody>
      </p:sp>
      <p:sp>
        <p:nvSpPr>
          <p:cNvPr id="17" name="Text 11"/>
          <p:cNvSpPr/>
          <p:nvPr/>
        </p:nvSpPr>
        <p:spPr>
          <a:xfrm>
            <a:off x="9930289" y="6279356"/>
            <a:ext cx="4002167" cy="319088"/>
          </a:xfrm>
          <a:prstGeom prst="rect">
            <a:avLst/>
          </a:prstGeom>
          <a:noFill/>
          <a:ln/>
        </p:spPr>
        <p:txBody>
          <a:bodyPr wrap="none" lIns="0" tIns="0" rIns="0" bIns="0" rtlCol="0" anchor="t"/>
          <a:lstStyle/>
          <a:p>
            <a:pPr algn="l" indent="0" marL="0">
              <a:lnSpc>
                <a:spcPts val="2500"/>
              </a:lnSpc>
              <a:buNone/>
            </a:pPr>
            <a:r>
              <a:rPr lang="en-US" sz="1550" dirty="0">
                <a:solidFill>
                  <a:srgbClr val="333F70"/>
                </a:solidFill>
                <a:latin typeface="Open Sans" pitchFamily="34" charset="0"/>
                <a:ea typeface="Open Sans" pitchFamily="34" charset="-122"/>
                <a:cs typeface="Open Sans" pitchFamily="34" charset="-120"/>
              </a:rPr>
              <a:t>TradeLens: Nền tảng vận chuyển container</a:t>
            </a:r>
            <a:endParaRPr lang="en-US" sz="1550" dirty="0"/>
          </a:p>
        </p:txBody>
      </p:sp>
      <p:sp>
        <p:nvSpPr>
          <p:cNvPr id="18" name="Text 12"/>
          <p:cNvSpPr/>
          <p:nvPr/>
        </p:nvSpPr>
        <p:spPr>
          <a:xfrm>
            <a:off x="9930289" y="6717982"/>
            <a:ext cx="4002167" cy="638175"/>
          </a:xfrm>
          <a:prstGeom prst="rect">
            <a:avLst/>
          </a:prstGeom>
          <a:noFill/>
          <a:ln/>
        </p:spPr>
        <p:txBody>
          <a:bodyPr wrap="square" lIns="0" tIns="0" rIns="0" bIns="0" rtlCol="0" anchor="t"/>
          <a:lstStyle/>
          <a:p>
            <a:pPr algn="l" indent="0" marL="0">
              <a:lnSpc>
                <a:spcPts val="2500"/>
              </a:lnSpc>
              <a:buNone/>
            </a:pPr>
            <a:r>
              <a:rPr lang="en-US" sz="1550" dirty="0">
                <a:solidFill>
                  <a:srgbClr val="333F70"/>
                </a:solidFill>
                <a:latin typeface="Open Sans" pitchFamily="34" charset="0"/>
                <a:ea typeface="Open Sans" pitchFamily="34" charset="-122"/>
                <a:cs typeface="Open Sans" pitchFamily="34" charset="-120"/>
              </a:rPr>
              <a:t>De Beers: Truy xuất kim cương thông qua Blockchain</a:t>
            </a:r>
            <a:endParaRPr lang="en-US" sz="1550" dirty="0"/>
          </a:p>
        </p:txBody>
      </p:sp>
      <p:pic>
        <p:nvPicPr>
          <p:cNvPr id="19" name="Image 4" descr="preencoded.png">    </p:cNvPr>
          <p:cNvPicPr>
            <a:picLocks noChangeAspect="1"/>
          </p:cNvPicPr>
          <p:nvPr/>
        </p:nvPicPr>
        <p:blipFill>
          <a:blip r:embed="rId5"/>
          <a:stretch>
            <a:fillRect/>
          </a:stretch>
        </p:blipFill>
        <p:spPr>
          <a:xfrm>
            <a:off x="4999196" y="2309574"/>
            <a:ext cx="4632008" cy="4632007"/>
          </a:xfrm>
          <a:prstGeom prst="rect">
            <a:avLst/>
          </a:prstGeom>
        </p:spPr>
      </p:pic>
      <p:pic>
        <p:nvPicPr>
          <p:cNvPr id="20" name="Image 5" descr="preencoded.png">    </p:cNvPr>
          <p:cNvPicPr>
            <a:picLocks noChangeAspect="1"/>
          </p:cNvPicPr>
          <p:nvPr/>
        </p:nvPicPr>
        <p:blipFill>
          <a:blip r:embed="rId6"/>
          <a:stretch>
            <a:fillRect/>
          </a:stretch>
        </p:blipFill>
        <p:spPr>
          <a:xfrm>
            <a:off x="8312289" y="5585400"/>
            <a:ext cx="298371" cy="372904"/>
          </a:xfrm>
          <a:prstGeom prst="rect">
            <a:avLst/>
          </a:prstGeom>
        </p:spPr>
      </p:pic>
      <p:sp>
        <p:nvSpPr>
          <p:cNvPr id="21" name="Text 13"/>
          <p:cNvSpPr/>
          <p:nvPr/>
        </p:nvSpPr>
        <p:spPr>
          <a:xfrm>
            <a:off x="953095" y="5094208"/>
            <a:ext cx="3747016" cy="311587"/>
          </a:xfrm>
          <a:prstGeom prst="rect">
            <a:avLst/>
          </a:prstGeom>
          <a:noFill/>
          <a:ln/>
        </p:spPr>
        <p:txBody>
          <a:bodyPr wrap="none" lIns="0" tIns="0" rIns="0" bIns="0" rtlCol="0" anchor="t"/>
          <a:lstStyle/>
          <a:p>
            <a:pPr algn="r" indent="0" marL="0">
              <a:lnSpc>
                <a:spcPts val="2450"/>
              </a:lnSpc>
              <a:buNone/>
            </a:pPr>
            <a:r>
              <a:rPr lang="en-US" sz="1950" b="1" dirty="0">
                <a:solidFill>
                  <a:srgbClr val="333F70"/>
                </a:solidFill>
                <a:latin typeface="Unbounded Bold" pitchFamily="34" charset="0"/>
                <a:ea typeface="Unbounded Bold" pitchFamily="34" charset="-122"/>
                <a:cs typeface="Unbounded Bold" pitchFamily="34" charset="-120"/>
              </a:rPr>
              <a:t>Nghiên cứu tại Việt Nam</a:t>
            </a:r>
            <a:endParaRPr lang="en-US" sz="1950" dirty="0"/>
          </a:p>
        </p:txBody>
      </p:sp>
      <p:sp>
        <p:nvSpPr>
          <p:cNvPr id="22" name="Text 14"/>
          <p:cNvSpPr/>
          <p:nvPr/>
        </p:nvSpPr>
        <p:spPr>
          <a:xfrm>
            <a:off x="697944" y="5525333"/>
            <a:ext cx="4002167" cy="319088"/>
          </a:xfrm>
          <a:prstGeom prst="rect">
            <a:avLst/>
          </a:prstGeom>
          <a:noFill/>
          <a:ln/>
        </p:spPr>
        <p:txBody>
          <a:bodyPr wrap="none" lIns="0" tIns="0" rIns="0" bIns="0" rtlCol="0" anchor="t"/>
          <a:lstStyle/>
          <a:p>
            <a:pPr algn="r" indent="0" marL="0">
              <a:lnSpc>
                <a:spcPts val="2500"/>
              </a:lnSpc>
              <a:buNone/>
            </a:pPr>
            <a:r>
              <a:rPr lang="en-US" sz="1550" dirty="0">
                <a:solidFill>
                  <a:srgbClr val="333F70"/>
                </a:solidFill>
                <a:latin typeface="Open Sans" pitchFamily="34" charset="0"/>
                <a:ea typeface="Open Sans" pitchFamily="34" charset="-122"/>
                <a:cs typeface="Open Sans" pitchFamily="34" charset="-120"/>
              </a:rPr>
              <a:t>Hiện trạng logistics và phân phối Việt Nam</a:t>
            </a:r>
            <a:endParaRPr lang="en-US" sz="1550" dirty="0"/>
          </a:p>
        </p:txBody>
      </p:sp>
      <p:sp>
        <p:nvSpPr>
          <p:cNvPr id="23" name="Text 15"/>
          <p:cNvSpPr/>
          <p:nvPr/>
        </p:nvSpPr>
        <p:spPr>
          <a:xfrm>
            <a:off x="697944" y="5963960"/>
            <a:ext cx="4002167" cy="319088"/>
          </a:xfrm>
          <a:prstGeom prst="rect">
            <a:avLst/>
          </a:prstGeom>
          <a:noFill/>
          <a:ln/>
        </p:spPr>
        <p:txBody>
          <a:bodyPr wrap="none" lIns="0" tIns="0" rIns="0" bIns="0" rtlCol="0" anchor="t"/>
          <a:lstStyle/>
          <a:p>
            <a:pPr algn="r" indent="0" marL="0">
              <a:lnSpc>
                <a:spcPts val="2500"/>
              </a:lnSpc>
              <a:buNone/>
            </a:pPr>
            <a:r>
              <a:rPr lang="en-US" sz="1550" dirty="0">
                <a:solidFill>
                  <a:srgbClr val="333F70"/>
                </a:solidFill>
                <a:latin typeface="Open Sans" pitchFamily="34" charset="0"/>
                <a:ea typeface="Open Sans" pitchFamily="34" charset="-122"/>
                <a:cs typeface="Open Sans" pitchFamily="34" charset="-120"/>
              </a:rPr>
              <a:t>Tiềm năng ứng dụng công nghệ mới</a:t>
            </a:r>
            <a:endParaRPr lang="en-US" sz="1550" dirty="0"/>
          </a:p>
        </p:txBody>
      </p:sp>
      <p:sp>
        <p:nvSpPr>
          <p:cNvPr id="24" name="Text 16"/>
          <p:cNvSpPr/>
          <p:nvPr/>
        </p:nvSpPr>
        <p:spPr>
          <a:xfrm>
            <a:off x="697944" y="6402586"/>
            <a:ext cx="4002167" cy="638175"/>
          </a:xfrm>
          <a:prstGeom prst="rect">
            <a:avLst/>
          </a:prstGeom>
          <a:noFill/>
          <a:ln/>
        </p:spPr>
        <p:txBody>
          <a:bodyPr wrap="square" lIns="0" tIns="0" rIns="0" bIns="0" rtlCol="0" anchor="t"/>
          <a:lstStyle/>
          <a:p>
            <a:pPr algn="r" indent="0" marL="0">
              <a:lnSpc>
                <a:spcPts val="2500"/>
              </a:lnSpc>
              <a:buNone/>
            </a:pPr>
            <a:r>
              <a:rPr lang="en-US" sz="1550" dirty="0">
                <a:solidFill>
                  <a:srgbClr val="333F70"/>
                </a:solidFill>
                <a:latin typeface="Open Sans" pitchFamily="34" charset="0"/>
                <a:ea typeface="Open Sans" pitchFamily="34" charset="-122"/>
                <a:cs typeface="Open Sans" pitchFamily="34" charset="-120"/>
              </a:rPr>
              <a:t>Các rào cản về luật pháp và hạ tầng kỹ thuật</a:t>
            </a:r>
            <a:endParaRPr lang="en-US" sz="1550" dirty="0"/>
          </a:p>
        </p:txBody>
      </p:sp>
      <p:pic>
        <p:nvPicPr>
          <p:cNvPr id="25" name="Image 6" descr="preencoded.png">    </p:cNvPr>
          <p:cNvPicPr>
            <a:picLocks noChangeAspect="1"/>
          </p:cNvPicPr>
          <p:nvPr/>
        </p:nvPicPr>
        <p:blipFill>
          <a:blip r:embed="rId7"/>
          <a:stretch>
            <a:fillRect/>
          </a:stretch>
        </p:blipFill>
        <p:spPr>
          <a:xfrm>
            <a:off x="4999196" y="2309574"/>
            <a:ext cx="4632008" cy="4632007"/>
          </a:xfrm>
          <a:prstGeom prst="rect">
            <a:avLst/>
          </a:prstGeom>
        </p:spPr>
      </p:pic>
      <p:pic>
        <p:nvPicPr>
          <p:cNvPr id="26" name="Image 7" descr="preencoded.png">    </p:cNvPr>
          <p:cNvPicPr>
            <a:picLocks noChangeAspect="1"/>
          </p:cNvPicPr>
          <p:nvPr/>
        </p:nvPicPr>
        <p:blipFill>
          <a:blip r:embed="rId8"/>
          <a:stretch>
            <a:fillRect/>
          </a:stretch>
        </p:blipFill>
        <p:spPr>
          <a:xfrm>
            <a:off x="6019502" y="5585400"/>
            <a:ext cx="298371" cy="37290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91515" y="659011"/>
            <a:ext cx="7802761" cy="617458"/>
          </a:xfrm>
          <a:prstGeom prst="rect">
            <a:avLst/>
          </a:prstGeom>
          <a:noFill/>
          <a:ln/>
        </p:spPr>
        <p:txBody>
          <a:bodyPr wrap="none" lIns="0" tIns="0" rIns="0" bIns="0" rtlCol="0" anchor="t"/>
          <a:lstStyle/>
          <a:p>
            <a:pPr algn="l" indent="0" marL="0">
              <a:lnSpc>
                <a:spcPts val="4850"/>
              </a:lnSpc>
              <a:buNone/>
            </a:pPr>
            <a:r>
              <a:rPr lang="en-US" sz="3850" b="1" dirty="0">
                <a:solidFill>
                  <a:srgbClr val="333F70"/>
                </a:solidFill>
                <a:latin typeface="Unbounded Bold" pitchFamily="34" charset="0"/>
                <a:ea typeface="Unbounded Bold" pitchFamily="34" charset="-122"/>
                <a:cs typeface="Unbounded Bold" pitchFamily="34" charset="-120"/>
              </a:rPr>
              <a:t>Phương Pháp Nghiên Cứu</a:t>
            </a:r>
            <a:endParaRPr lang="en-US" sz="3850" dirty="0"/>
          </a:p>
        </p:txBody>
      </p:sp>
      <p:sp>
        <p:nvSpPr>
          <p:cNvPr id="3" name="Shape 1"/>
          <p:cNvSpPr/>
          <p:nvPr/>
        </p:nvSpPr>
        <p:spPr>
          <a:xfrm>
            <a:off x="7303770" y="1671518"/>
            <a:ext cx="22860" cy="5899071"/>
          </a:xfrm>
          <a:prstGeom prst="roundRect">
            <a:avLst>
              <a:gd name="adj" fmla="val 363004"/>
            </a:avLst>
          </a:prstGeom>
          <a:solidFill>
            <a:srgbClr val="BCDBD4"/>
          </a:solidFill>
          <a:ln/>
        </p:spPr>
      </p:sp>
      <p:sp>
        <p:nvSpPr>
          <p:cNvPr id="4" name="Shape 2"/>
          <p:cNvSpPr/>
          <p:nvPr/>
        </p:nvSpPr>
        <p:spPr>
          <a:xfrm>
            <a:off x="6523137" y="1882259"/>
            <a:ext cx="592693" cy="22860"/>
          </a:xfrm>
          <a:prstGeom prst="roundRect">
            <a:avLst>
              <a:gd name="adj" fmla="val 363004"/>
            </a:avLst>
          </a:prstGeom>
          <a:solidFill>
            <a:srgbClr val="BCDBD4"/>
          </a:solidFill>
          <a:ln/>
        </p:spPr>
      </p:sp>
      <p:sp>
        <p:nvSpPr>
          <p:cNvPr id="5" name="Shape 3"/>
          <p:cNvSpPr/>
          <p:nvPr/>
        </p:nvSpPr>
        <p:spPr>
          <a:xfrm>
            <a:off x="7092970" y="1671518"/>
            <a:ext cx="444460" cy="444460"/>
          </a:xfrm>
          <a:prstGeom prst="roundRect">
            <a:avLst>
              <a:gd name="adj" fmla="val 18670"/>
            </a:avLst>
          </a:prstGeom>
          <a:solidFill>
            <a:srgbClr val="D6F5EE"/>
          </a:solidFill>
          <a:ln w="7620">
            <a:solidFill>
              <a:srgbClr val="BCDBD4"/>
            </a:solidFill>
            <a:prstDash val="solid"/>
          </a:ln>
        </p:spPr>
      </p:sp>
      <p:pic>
        <p:nvPicPr>
          <p:cNvPr id="6" name="Image 0" descr="preencoded.png">    </p:cNvPr>
          <p:cNvPicPr>
            <a:picLocks noChangeAspect="1"/>
          </p:cNvPicPr>
          <p:nvPr/>
        </p:nvPicPr>
        <p:blipFill>
          <a:blip r:embed="rId1"/>
          <a:stretch>
            <a:fillRect/>
          </a:stretch>
        </p:blipFill>
        <p:spPr>
          <a:xfrm>
            <a:off x="7166967" y="1708487"/>
            <a:ext cx="296347" cy="370403"/>
          </a:xfrm>
          <a:prstGeom prst="rect">
            <a:avLst/>
          </a:prstGeom>
        </p:spPr>
      </p:pic>
      <p:sp>
        <p:nvSpPr>
          <p:cNvPr id="7" name="Text 4"/>
          <p:cNvSpPr/>
          <p:nvPr/>
        </p:nvSpPr>
        <p:spPr>
          <a:xfrm>
            <a:off x="2540794" y="1739384"/>
            <a:ext cx="3786545" cy="308610"/>
          </a:xfrm>
          <a:prstGeom prst="rect">
            <a:avLst/>
          </a:prstGeom>
          <a:noFill/>
          <a:ln/>
        </p:spPr>
        <p:txBody>
          <a:bodyPr wrap="none" lIns="0" tIns="0" rIns="0" bIns="0" rtlCol="0" anchor="t"/>
          <a:lstStyle/>
          <a:p>
            <a:pPr algn="r" indent="0" marL="0">
              <a:lnSpc>
                <a:spcPts val="2400"/>
              </a:lnSpc>
              <a:buNone/>
            </a:pPr>
            <a:r>
              <a:rPr lang="en-US" sz="1900" b="1" dirty="0">
                <a:solidFill>
                  <a:srgbClr val="333F70"/>
                </a:solidFill>
                <a:latin typeface="Unbounded Bold" pitchFamily="34" charset="0"/>
                <a:ea typeface="Unbounded Bold" pitchFamily="34" charset="-122"/>
                <a:cs typeface="Unbounded Bold" pitchFamily="34" charset="-120"/>
              </a:rPr>
              <a:t>Phân tích tài liệu thứ cấp</a:t>
            </a:r>
            <a:endParaRPr lang="en-US" sz="1900" dirty="0"/>
          </a:p>
        </p:txBody>
      </p:sp>
      <p:sp>
        <p:nvSpPr>
          <p:cNvPr id="8" name="Text 5"/>
          <p:cNvSpPr/>
          <p:nvPr/>
        </p:nvSpPr>
        <p:spPr>
          <a:xfrm>
            <a:off x="691515" y="2166461"/>
            <a:ext cx="5635823" cy="947976"/>
          </a:xfrm>
          <a:prstGeom prst="rect">
            <a:avLst/>
          </a:prstGeom>
          <a:noFill/>
          <a:ln/>
        </p:spPr>
        <p:txBody>
          <a:bodyPr wrap="square" lIns="0" tIns="0" rIns="0" bIns="0" rtlCol="0" anchor="t"/>
          <a:lstStyle/>
          <a:p>
            <a:pPr algn="r" indent="0" marL="0">
              <a:lnSpc>
                <a:spcPts val="2450"/>
              </a:lnSpc>
              <a:buNone/>
            </a:pPr>
            <a:r>
              <a:rPr lang="en-US" sz="1550" dirty="0">
                <a:solidFill>
                  <a:srgbClr val="333F70"/>
                </a:solidFill>
                <a:latin typeface="Open Sans" pitchFamily="34" charset="0"/>
                <a:ea typeface="Open Sans" pitchFamily="34" charset="-122"/>
                <a:cs typeface="Open Sans" pitchFamily="34" charset="-120"/>
              </a:rPr>
              <a:t>Thu thập và phân tích các báo cáo ngành, nghiên cứu học thuật và dữ liệu thống kê về chuỗi cung ứng tại Việt Nam và ứng dụng Blockchain trên thế giới.</a:t>
            </a:r>
            <a:endParaRPr lang="en-US" sz="1550" dirty="0"/>
          </a:p>
        </p:txBody>
      </p:sp>
      <p:sp>
        <p:nvSpPr>
          <p:cNvPr id="9" name="Shape 6"/>
          <p:cNvSpPr/>
          <p:nvPr/>
        </p:nvSpPr>
        <p:spPr>
          <a:xfrm>
            <a:off x="7514570" y="3067526"/>
            <a:ext cx="592693" cy="22860"/>
          </a:xfrm>
          <a:prstGeom prst="roundRect">
            <a:avLst>
              <a:gd name="adj" fmla="val 363004"/>
            </a:avLst>
          </a:prstGeom>
          <a:solidFill>
            <a:srgbClr val="BCDBD4"/>
          </a:solidFill>
          <a:ln/>
        </p:spPr>
      </p:sp>
      <p:sp>
        <p:nvSpPr>
          <p:cNvPr id="10" name="Shape 7"/>
          <p:cNvSpPr/>
          <p:nvPr/>
        </p:nvSpPr>
        <p:spPr>
          <a:xfrm>
            <a:off x="7092970" y="2856786"/>
            <a:ext cx="444460" cy="444460"/>
          </a:xfrm>
          <a:prstGeom prst="roundRect">
            <a:avLst>
              <a:gd name="adj" fmla="val 18670"/>
            </a:avLst>
          </a:prstGeom>
          <a:solidFill>
            <a:srgbClr val="D6F5EE"/>
          </a:solidFill>
          <a:ln w="7620">
            <a:solidFill>
              <a:srgbClr val="BCDBD4"/>
            </a:solidFill>
            <a:prstDash val="solid"/>
          </a:ln>
        </p:spPr>
      </p:sp>
      <p:pic>
        <p:nvPicPr>
          <p:cNvPr id="11" name="Image 1" descr="preencoded.png">    </p:cNvPr>
          <p:cNvPicPr>
            <a:picLocks noChangeAspect="1"/>
          </p:cNvPicPr>
          <p:nvPr/>
        </p:nvPicPr>
        <p:blipFill>
          <a:blip r:embed="rId2"/>
          <a:stretch>
            <a:fillRect/>
          </a:stretch>
        </p:blipFill>
        <p:spPr>
          <a:xfrm>
            <a:off x="7166967" y="2893755"/>
            <a:ext cx="296347" cy="370403"/>
          </a:xfrm>
          <a:prstGeom prst="rect">
            <a:avLst/>
          </a:prstGeom>
        </p:spPr>
      </p:pic>
      <p:sp>
        <p:nvSpPr>
          <p:cNvPr id="12" name="Text 8"/>
          <p:cNvSpPr/>
          <p:nvPr/>
        </p:nvSpPr>
        <p:spPr>
          <a:xfrm>
            <a:off x="8303062" y="2924651"/>
            <a:ext cx="5228630" cy="308610"/>
          </a:xfrm>
          <a:prstGeom prst="rect">
            <a:avLst/>
          </a:prstGeom>
          <a:noFill/>
          <a:ln/>
        </p:spPr>
        <p:txBody>
          <a:bodyPr wrap="none" lIns="0" tIns="0" rIns="0" bIns="0" rtlCol="0" anchor="t"/>
          <a:lstStyle/>
          <a:p>
            <a:pPr algn="l" indent="0" marL="0">
              <a:lnSpc>
                <a:spcPts val="2400"/>
              </a:lnSpc>
              <a:buNone/>
            </a:pPr>
            <a:r>
              <a:rPr lang="en-US" sz="1900" b="1" dirty="0">
                <a:solidFill>
                  <a:srgbClr val="333F70"/>
                </a:solidFill>
                <a:latin typeface="Unbounded Bold" pitchFamily="34" charset="0"/>
                <a:ea typeface="Unbounded Bold" pitchFamily="34" charset="-122"/>
                <a:cs typeface="Unbounded Bold" pitchFamily="34" charset="-120"/>
              </a:rPr>
              <a:t>Phỏng vấn chuyên gia và khảo sát</a:t>
            </a:r>
            <a:endParaRPr lang="en-US" sz="1900" dirty="0"/>
          </a:p>
        </p:txBody>
      </p:sp>
      <p:sp>
        <p:nvSpPr>
          <p:cNvPr id="13" name="Text 9"/>
          <p:cNvSpPr/>
          <p:nvPr/>
        </p:nvSpPr>
        <p:spPr>
          <a:xfrm>
            <a:off x="8303062" y="3351728"/>
            <a:ext cx="5635823" cy="947976"/>
          </a:xfrm>
          <a:prstGeom prst="rect">
            <a:avLst/>
          </a:prstGeom>
          <a:noFill/>
          <a:ln/>
        </p:spPr>
        <p:txBody>
          <a:bodyPr wrap="square" lIns="0" tIns="0" rIns="0" bIns="0" rtlCol="0" anchor="t"/>
          <a:lstStyle/>
          <a:p>
            <a:pPr algn="l" indent="0" marL="0">
              <a:lnSpc>
                <a:spcPts val="2450"/>
              </a:lnSpc>
              <a:buNone/>
            </a:pPr>
            <a:r>
              <a:rPr lang="en-US" sz="1550" dirty="0">
                <a:solidFill>
                  <a:srgbClr val="333F70"/>
                </a:solidFill>
                <a:latin typeface="Open Sans" pitchFamily="34" charset="0"/>
                <a:ea typeface="Open Sans" pitchFamily="34" charset="-122"/>
                <a:cs typeface="Open Sans" pitchFamily="34" charset="-120"/>
              </a:rPr>
              <a:t>Thực hiện phỏng vấn sâu với 15-20 chuyên gia trong lĩnh vực logistics và công nghệ. Tiến hành khảo sát với 100-150 người làm việc trong ngành để thu thập ý kiến và đánh giá nhu cầu.</a:t>
            </a:r>
            <a:endParaRPr lang="en-US" sz="1550" dirty="0"/>
          </a:p>
        </p:txBody>
      </p:sp>
      <p:sp>
        <p:nvSpPr>
          <p:cNvPr id="14" name="Shape 10"/>
          <p:cNvSpPr/>
          <p:nvPr/>
        </p:nvSpPr>
        <p:spPr>
          <a:xfrm>
            <a:off x="6523137" y="4089202"/>
            <a:ext cx="592693" cy="22860"/>
          </a:xfrm>
          <a:prstGeom prst="roundRect">
            <a:avLst>
              <a:gd name="adj" fmla="val 363004"/>
            </a:avLst>
          </a:prstGeom>
          <a:solidFill>
            <a:srgbClr val="BCDBD4"/>
          </a:solidFill>
          <a:ln/>
        </p:spPr>
      </p:sp>
      <p:sp>
        <p:nvSpPr>
          <p:cNvPr id="15" name="Shape 11"/>
          <p:cNvSpPr/>
          <p:nvPr/>
        </p:nvSpPr>
        <p:spPr>
          <a:xfrm>
            <a:off x="7092970" y="3878461"/>
            <a:ext cx="444460" cy="444460"/>
          </a:xfrm>
          <a:prstGeom prst="roundRect">
            <a:avLst>
              <a:gd name="adj" fmla="val 18670"/>
            </a:avLst>
          </a:prstGeom>
          <a:solidFill>
            <a:srgbClr val="D6F5EE"/>
          </a:solidFill>
          <a:ln w="7620">
            <a:solidFill>
              <a:srgbClr val="BCDBD4"/>
            </a:solidFill>
            <a:prstDash val="solid"/>
          </a:ln>
        </p:spPr>
      </p:sp>
      <p:pic>
        <p:nvPicPr>
          <p:cNvPr id="16" name="Image 2" descr="preencoded.png">    </p:cNvPr>
          <p:cNvPicPr>
            <a:picLocks noChangeAspect="1"/>
          </p:cNvPicPr>
          <p:nvPr/>
        </p:nvPicPr>
        <p:blipFill>
          <a:blip r:embed="rId3"/>
          <a:stretch>
            <a:fillRect/>
          </a:stretch>
        </p:blipFill>
        <p:spPr>
          <a:xfrm>
            <a:off x="7166967" y="3915430"/>
            <a:ext cx="296347" cy="370403"/>
          </a:xfrm>
          <a:prstGeom prst="rect">
            <a:avLst/>
          </a:prstGeom>
        </p:spPr>
      </p:pic>
      <p:sp>
        <p:nvSpPr>
          <p:cNvPr id="17" name="Text 12"/>
          <p:cNvSpPr/>
          <p:nvPr/>
        </p:nvSpPr>
        <p:spPr>
          <a:xfrm>
            <a:off x="2308384" y="3946327"/>
            <a:ext cx="4018955" cy="308610"/>
          </a:xfrm>
          <a:prstGeom prst="rect">
            <a:avLst/>
          </a:prstGeom>
          <a:noFill/>
          <a:ln/>
        </p:spPr>
        <p:txBody>
          <a:bodyPr wrap="none" lIns="0" tIns="0" rIns="0" bIns="0" rtlCol="0" anchor="t"/>
          <a:lstStyle/>
          <a:p>
            <a:pPr algn="r" indent="0" marL="0">
              <a:lnSpc>
                <a:spcPts val="2400"/>
              </a:lnSpc>
              <a:buNone/>
            </a:pPr>
            <a:r>
              <a:rPr lang="en-US" sz="1900" b="1" dirty="0">
                <a:solidFill>
                  <a:srgbClr val="333F70"/>
                </a:solidFill>
                <a:latin typeface="Unbounded Bold" pitchFamily="34" charset="0"/>
                <a:ea typeface="Unbounded Bold" pitchFamily="34" charset="-122"/>
                <a:cs typeface="Unbounded Bold" pitchFamily="34" charset="-120"/>
              </a:rPr>
              <a:t>Thiết kế giải pháp tích hợp</a:t>
            </a:r>
            <a:endParaRPr lang="en-US" sz="1900" dirty="0"/>
          </a:p>
        </p:txBody>
      </p:sp>
      <p:sp>
        <p:nvSpPr>
          <p:cNvPr id="18" name="Text 13"/>
          <p:cNvSpPr/>
          <p:nvPr/>
        </p:nvSpPr>
        <p:spPr>
          <a:xfrm>
            <a:off x="691515" y="4373404"/>
            <a:ext cx="5635823" cy="947976"/>
          </a:xfrm>
          <a:prstGeom prst="rect">
            <a:avLst/>
          </a:prstGeom>
          <a:noFill/>
          <a:ln/>
        </p:spPr>
        <p:txBody>
          <a:bodyPr wrap="square" lIns="0" tIns="0" rIns="0" bIns="0" rtlCol="0" anchor="t"/>
          <a:lstStyle/>
          <a:p>
            <a:pPr algn="r" indent="0" marL="0">
              <a:lnSpc>
                <a:spcPts val="2450"/>
              </a:lnSpc>
              <a:buNone/>
            </a:pPr>
            <a:r>
              <a:rPr lang="en-US" sz="1550" dirty="0">
                <a:solidFill>
                  <a:srgbClr val="333F70"/>
                </a:solidFill>
                <a:latin typeface="Open Sans" pitchFamily="34" charset="0"/>
                <a:ea typeface="Open Sans" pitchFamily="34" charset="-122"/>
                <a:cs typeface="Open Sans" pitchFamily="34" charset="-120"/>
              </a:rPr>
              <a:t>Phát triển mô hình lý thuyết về tích hợp Blockchain vào quy trình phân phối, xác định các điểm tích hợp và cơ chế hoạt động của hệ thống.</a:t>
            </a:r>
            <a:endParaRPr lang="en-US" sz="1550" dirty="0"/>
          </a:p>
        </p:txBody>
      </p:sp>
      <p:sp>
        <p:nvSpPr>
          <p:cNvPr id="19" name="Shape 14"/>
          <p:cNvSpPr/>
          <p:nvPr/>
        </p:nvSpPr>
        <p:spPr>
          <a:xfrm>
            <a:off x="7514570" y="5110996"/>
            <a:ext cx="592693" cy="22860"/>
          </a:xfrm>
          <a:prstGeom prst="roundRect">
            <a:avLst>
              <a:gd name="adj" fmla="val 363004"/>
            </a:avLst>
          </a:prstGeom>
          <a:solidFill>
            <a:srgbClr val="BCDBD4"/>
          </a:solidFill>
          <a:ln/>
        </p:spPr>
      </p:sp>
      <p:sp>
        <p:nvSpPr>
          <p:cNvPr id="20" name="Shape 15"/>
          <p:cNvSpPr/>
          <p:nvPr/>
        </p:nvSpPr>
        <p:spPr>
          <a:xfrm>
            <a:off x="7092970" y="4900255"/>
            <a:ext cx="444460" cy="444460"/>
          </a:xfrm>
          <a:prstGeom prst="roundRect">
            <a:avLst>
              <a:gd name="adj" fmla="val 18670"/>
            </a:avLst>
          </a:prstGeom>
          <a:solidFill>
            <a:srgbClr val="D6F5EE"/>
          </a:solidFill>
          <a:ln w="7620">
            <a:solidFill>
              <a:srgbClr val="BCDBD4"/>
            </a:solidFill>
            <a:prstDash val="solid"/>
          </a:ln>
        </p:spPr>
      </p:sp>
      <p:pic>
        <p:nvPicPr>
          <p:cNvPr id="21" name="Image 3" descr="preencoded.png">    </p:cNvPr>
          <p:cNvPicPr>
            <a:picLocks noChangeAspect="1"/>
          </p:cNvPicPr>
          <p:nvPr/>
        </p:nvPicPr>
        <p:blipFill>
          <a:blip r:embed="rId4"/>
          <a:stretch>
            <a:fillRect/>
          </a:stretch>
        </p:blipFill>
        <p:spPr>
          <a:xfrm>
            <a:off x="7166967" y="4937224"/>
            <a:ext cx="296347" cy="370403"/>
          </a:xfrm>
          <a:prstGeom prst="rect">
            <a:avLst/>
          </a:prstGeom>
        </p:spPr>
      </p:pic>
      <p:sp>
        <p:nvSpPr>
          <p:cNvPr id="22" name="Text 16"/>
          <p:cNvSpPr/>
          <p:nvPr/>
        </p:nvSpPr>
        <p:spPr>
          <a:xfrm>
            <a:off x="8303062" y="4968121"/>
            <a:ext cx="4759047" cy="308610"/>
          </a:xfrm>
          <a:prstGeom prst="rect">
            <a:avLst/>
          </a:prstGeom>
          <a:noFill/>
          <a:ln/>
        </p:spPr>
        <p:txBody>
          <a:bodyPr wrap="none" lIns="0" tIns="0" rIns="0" bIns="0" rtlCol="0" anchor="t"/>
          <a:lstStyle/>
          <a:p>
            <a:pPr algn="l" indent="0" marL="0">
              <a:lnSpc>
                <a:spcPts val="2400"/>
              </a:lnSpc>
              <a:buNone/>
            </a:pPr>
            <a:r>
              <a:rPr lang="en-US" sz="1900" b="1" dirty="0">
                <a:solidFill>
                  <a:srgbClr val="333F70"/>
                </a:solidFill>
                <a:latin typeface="Unbounded Bold" pitchFamily="34" charset="0"/>
                <a:ea typeface="Unbounded Bold" pitchFamily="34" charset="-122"/>
                <a:cs typeface="Unbounded Bold" pitchFamily="34" charset="-120"/>
              </a:rPr>
              <a:t>Xây dựng phần mềm mô phỏng</a:t>
            </a:r>
            <a:endParaRPr lang="en-US" sz="1900" dirty="0"/>
          </a:p>
        </p:txBody>
      </p:sp>
      <p:sp>
        <p:nvSpPr>
          <p:cNvPr id="23" name="Text 17"/>
          <p:cNvSpPr/>
          <p:nvPr/>
        </p:nvSpPr>
        <p:spPr>
          <a:xfrm>
            <a:off x="8303062" y="5395198"/>
            <a:ext cx="5635823" cy="947976"/>
          </a:xfrm>
          <a:prstGeom prst="rect">
            <a:avLst/>
          </a:prstGeom>
          <a:noFill/>
          <a:ln/>
        </p:spPr>
        <p:txBody>
          <a:bodyPr wrap="square" lIns="0" tIns="0" rIns="0" bIns="0" rtlCol="0" anchor="t"/>
          <a:lstStyle/>
          <a:p>
            <a:pPr algn="l" indent="0" marL="0">
              <a:lnSpc>
                <a:spcPts val="2450"/>
              </a:lnSpc>
              <a:buNone/>
            </a:pPr>
            <a:r>
              <a:rPr lang="en-US" sz="1550" dirty="0">
                <a:solidFill>
                  <a:srgbClr val="333F70"/>
                </a:solidFill>
                <a:latin typeface="Open Sans" pitchFamily="34" charset="0"/>
                <a:ea typeface="Open Sans" pitchFamily="34" charset="-122"/>
                <a:cs typeface="Open Sans" pitchFamily="34" charset="-120"/>
              </a:rPr>
              <a:t>Phát triển ứng dụng mô phỏng hoạt động của chuỗi cung ứng có tích hợp Blockchain, để minh họa trực quan cách thức vận hành và lợi ích của giải pháp.</a:t>
            </a:r>
            <a:endParaRPr lang="en-US" sz="1550" dirty="0"/>
          </a:p>
        </p:txBody>
      </p:sp>
      <p:sp>
        <p:nvSpPr>
          <p:cNvPr id="24" name="Shape 18"/>
          <p:cNvSpPr/>
          <p:nvPr/>
        </p:nvSpPr>
        <p:spPr>
          <a:xfrm>
            <a:off x="6523137" y="6132790"/>
            <a:ext cx="592693" cy="22860"/>
          </a:xfrm>
          <a:prstGeom prst="roundRect">
            <a:avLst>
              <a:gd name="adj" fmla="val 363004"/>
            </a:avLst>
          </a:prstGeom>
          <a:solidFill>
            <a:srgbClr val="BCDBD4"/>
          </a:solidFill>
          <a:ln/>
        </p:spPr>
      </p:sp>
      <p:sp>
        <p:nvSpPr>
          <p:cNvPr id="25" name="Shape 19"/>
          <p:cNvSpPr/>
          <p:nvPr/>
        </p:nvSpPr>
        <p:spPr>
          <a:xfrm>
            <a:off x="7092970" y="5922050"/>
            <a:ext cx="444460" cy="444460"/>
          </a:xfrm>
          <a:prstGeom prst="roundRect">
            <a:avLst>
              <a:gd name="adj" fmla="val 18670"/>
            </a:avLst>
          </a:prstGeom>
          <a:solidFill>
            <a:srgbClr val="D6F5EE"/>
          </a:solidFill>
          <a:ln w="7620">
            <a:solidFill>
              <a:srgbClr val="BCDBD4"/>
            </a:solidFill>
            <a:prstDash val="solid"/>
          </a:ln>
        </p:spPr>
      </p:sp>
      <p:pic>
        <p:nvPicPr>
          <p:cNvPr id="26" name="Image 4" descr="preencoded.png">    </p:cNvPr>
          <p:cNvPicPr>
            <a:picLocks noChangeAspect="1"/>
          </p:cNvPicPr>
          <p:nvPr/>
        </p:nvPicPr>
        <p:blipFill>
          <a:blip r:embed="rId5"/>
          <a:stretch>
            <a:fillRect/>
          </a:stretch>
        </p:blipFill>
        <p:spPr>
          <a:xfrm>
            <a:off x="7166967" y="5959019"/>
            <a:ext cx="296347" cy="370403"/>
          </a:xfrm>
          <a:prstGeom prst="rect">
            <a:avLst/>
          </a:prstGeom>
        </p:spPr>
      </p:pic>
      <p:sp>
        <p:nvSpPr>
          <p:cNvPr id="27" name="Text 20"/>
          <p:cNvSpPr/>
          <p:nvPr/>
        </p:nvSpPr>
        <p:spPr>
          <a:xfrm>
            <a:off x="1359218" y="5989915"/>
            <a:ext cx="4968121" cy="308610"/>
          </a:xfrm>
          <a:prstGeom prst="rect">
            <a:avLst/>
          </a:prstGeom>
          <a:noFill/>
          <a:ln/>
        </p:spPr>
        <p:txBody>
          <a:bodyPr wrap="none" lIns="0" tIns="0" rIns="0" bIns="0" rtlCol="0" anchor="t"/>
          <a:lstStyle/>
          <a:p>
            <a:pPr algn="r" indent="0" marL="0">
              <a:lnSpc>
                <a:spcPts val="2400"/>
              </a:lnSpc>
              <a:buNone/>
            </a:pPr>
            <a:r>
              <a:rPr lang="en-US" sz="1900" b="1" dirty="0">
                <a:solidFill>
                  <a:srgbClr val="333F70"/>
                </a:solidFill>
                <a:latin typeface="Unbounded Bold" pitchFamily="34" charset="0"/>
                <a:ea typeface="Unbounded Bold" pitchFamily="34" charset="-122"/>
                <a:cs typeface="Unbounded Bold" pitchFamily="34" charset="-120"/>
              </a:rPr>
              <a:t>Phân tích định tính và định lượng</a:t>
            </a:r>
            <a:endParaRPr lang="en-US" sz="1900" dirty="0"/>
          </a:p>
        </p:txBody>
      </p:sp>
      <p:sp>
        <p:nvSpPr>
          <p:cNvPr id="28" name="Text 21"/>
          <p:cNvSpPr/>
          <p:nvPr/>
        </p:nvSpPr>
        <p:spPr>
          <a:xfrm>
            <a:off x="691515" y="6416993"/>
            <a:ext cx="5635823" cy="947976"/>
          </a:xfrm>
          <a:prstGeom prst="rect">
            <a:avLst/>
          </a:prstGeom>
          <a:noFill/>
          <a:ln/>
        </p:spPr>
        <p:txBody>
          <a:bodyPr wrap="square" lIns="0" tIns="0" rIns="0" bIns="0" rtlCol="0" anchor="t"/>
          <a:lstStyle/>
          <a:p>
            <a:pPr algn="r" indent="0" marL="0">
              <a:lnSpc>
                <a:spcPts val="2450"/>
              </a:lnSpc>
              <a:buNone/>
            </a:pPr>
            <a:r>
              <a:rPr lang="en-US" sz="1550" dirty="0">
                <a:solidFill>
                  <a:srgbClr val="333F70"/>
                </a:solidFill>
                <a:latin typeface="Open Sans" pitchFamily="34" charset="0"/>
                <a:ea typeface="Open Sans" pitchFamily="34" charset="-122"/>
                <a:cs typeface="Open Sans" pitchFamily="34" charset="-120"/>
              </a:rPr>
              <a:t>Sử dụng SPSS và SMARTPLS để phân tích dữ liệu thu thập, đánh giá mối quan hệ giữa các biến số và kiểm định các giả thuyết nghiên cứu.</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48784" y="758785"/>
            <a:ext cx="10167699" cy="668536"/>
          </a:xfrm>
          <a:prstGeom prst="rect">
            <a:avLst/>
          </a:prstGeom>
          <a:noFill/>
          <a:ln/>
        </p:spPr>
        <p:txBody>
          <a:bodyPr wrap="none" lIns="0" tIns="0" rIns="0" bIns="0" rtlCol="0" anchor="t"/>
          <a:lstStyle/>
          <a:p>
            <a:pPr algn="l" indent="0" marL="0">
              <a:lnSpc>
                <a:spcPts val="5250"/>
              </a:lnSpc>
              <a:buNone/>
            </a:pPr>
            <a:r>
              <a:rPr lang="en-US" sz="4200" b="1" dirty="0">
                <a:solidFill>
                  <a:srgbClr val="333F70"/>
                </a:solidFill>
                <a:latin typeface="Unbounded Bold" pitchFamily="34" charset="0"/>
                <a:ea typeface="Unbounded Bold" pitchFamily="34" charset="-122"/>
                <a:cs typeface="Unbounded Bold" pitchFamily="34" charset="-120"/>
              </a:rPr>
              <a:t>Mô Hình Đề Xuất Và Phần Mềm</a:t>
            </a:r>
            <a:endParaRPr lang="en-US" sz="4200" dirty="0"/>
          </a:p>
        </p:txBody>
      </p:sp>
      <p:sp>
        <p:nvSpPr>
          <p:cNvPr id="3" name="Shape 1"/>
          <p:cNvSpPr/>
          <p:nvPr/>
        </p:nvSpPr>
        <p:spPr>
          <a:xfrm>
            <a:off x="748784" y="2817852"/>
            <a:ext cx="3042523" cy="213836"/>
          </a:xfrm>
          <a:prstGeom prst="roundRect">
            <a:avLst>
              <a:gd name="adj" fmla="val 42023"/>
            </a:avLst>
          </a:prstGeom>
          <a:solidFill>
            <a:srgbClr val="D6F5EE"/>
          </a:solidFill>
          <a:ln w="7620">
            <a:solidFill>
              <a:srgbClr val="BCDBD4"/>
            </a:solidFill>
            <a:prstDash val="solid"/>
          </a:ln>
        </p:spPr>
      </p:sp>
      <p:sp>
        <p:nvSpPr>
          <p:cNvPr id="4" name="Text 2"/>
          <p:cNvSpPr/>
          <p:nvPr/>
        </p:nvSpPr>
        <p:spPr>
          <a:xfrm>
            <a:off x="748784" y="3352562"/>
            <a:ext cx="3042523" cy="668417"/>
          </a:xfrm>
          <a:prstGeom prst="rect">
            <a:avLst/>
          </a:prstGeom>
          <a:noFill/>
          <a:ln/>
        </p:spPr>
        <p:txBody>
          <a:bodyPr wrap="square" lIns="0" tIns="0" rIns="0" bIns="0" rtlCol="0" anchor="t"/>
          <a:lstStyle/>
          <a:p>
            <a:pPr algn="l" indent="0" marL="0">
              <a:lnSpc>
                <a:spcPts val="2600"/>
              </a:lnSpc>
              <a:buNone/>
            </a:pPr>
            <a:r>
              <a:rPr lang="en-US" sz="2100" b="1" dirty="0">
                <a:solidFill>
                  <a:srgbClr val="333F70"/>
                </a:solidFill>
                <a:latin typeface="Unbounded Bold" pitchFamily="34" charset="0"/>
                <a:ea typeface="Unbounded Bold" pitchFamily="34" charset="-122"/>
                <a:cs typeface="Unbounded Bold" pitchFamily="34" charset="-120"/>
              </a:rPr>
              <a:t>Tiếp nhận đơn hàng</a:t>
            </a:r>
            <a:endParaRPr lang="en-US" sz="2100" dirty="0"/>
          </a:p>
        </p:txBody>
      </p:sp>
      <p:sp>
        <p:nvSpPr>
          <p:cNvPr id="5" name="Text 3"/>
          <p:cNvSpPr/>
          <p:nvPr/>
        </p:nvSpPr>
        <p:spPr>
          <a:xfrm>
            <a:off x="748784" y="4149328"/>
            <a:ext cx="3042523" cy="2396133"/>
          </a:xfrm>
          <a:prstGeom prst="rect">
            <a:avLst/>
          </a:prstGeom>
          <a:noFill/>
          <a:ln/>
        </p:spPr>
        <p:txBody>
          <a:bodyPr wrap="square" lIns="0" tIns="0" rIns="0" bIns="0" rtlCol="0" anchor="t"/>
          <a:lstStyle/>
          <a:p>
            <a:pPr algn="l" indent="0" marL="0">
              <a:lnSpc>
                <a:spcPts val="2650"/>
              </a:lnSpc>
              <a:buNone/>
            </a:pPr>
            <a:r>
              <a:rPr lang="en-US" sz="1650" dirty="0">
                <a:solidFill>
                  <a:srgbClr val="333F70"/>
                </a:solidFill>
                <a:latin typeface="Open Sans" pitchFamily="34" charset="0"/>
                <a:ea typeface="Open Sans" pitchFamily="34" charset="-122"/>
                <a:cs typeface="Open Sans" pitchFamily="34" charset="-120"/>
              </a:rPr>
              <a:t>Khách hàng tạo đơn hàng trên nền tảng thương mại điện tử. Thông tin đơn hàng được mã hóa và lưu trữ trong block đầu tiên của chuỗi, với chữ ký số xác nhận từ khách hàng và nhà bán lẻ.</a:t>
            </a:r>
            <a:endParaRPr lang="en-US" sz="1650" dirty="0"/>
          </a:p>
        </p:txBody>
      </p:sp>
      <p:sp>
        <p:nvSpPr>
          <p:cNvPr id="6" name="Shape 4"/>
          <p:cNvSpPr/>
          <p:nvPr/>
        </p:nvSpPr>
        <p:spPr>
          <a:xfrm>
            <a:off x="4112181" y="2496860"/>
            <a:ext cx="3042523" cy="213836"/>
          </a:xfrm>
          <a:prstGeom prst="roundRect">
            <a:avLst>
              <a:gd name="adj" fmla="val 42023"/>
            </a:avLst>
          </a:prstGeom>
          <a:solidFill>
            <a:srgbClr val="D6F5EE"/>
          </a:solidFill>
          <a:ln w="7620">
            <a:solidFill>
              <a:srgbClr val="BCDBD4"/>
            </a:solidFill>
            <a:prstDash val="solid"/>
          </a:ln>
        </p:spPr>
      </p:sp>
      <p:sp>
        <p:nvSpPr>
          <p:cNvPr id="7" name="Text 5"/>
          <p:cNvSpPr/>
          <p:nvPr/>
        </p:nvSpPr>
        <p:spPr>
          <a:xfrm>
            <a:off x="4112181" y="3031569"/>
            <a:ext cx="2674382" cy="334208"/>
          </a:xfrm>
          <a:prstGeom prst="rect">
            <a:avLst/>
          </a:prstGeom>
          <a:noFill/>
          <a:ln/>
        </p:spPr>
        <p:txBody>
          <a:bodyPr wrap="none" lIns="0" tIns="0" rIns="0" bIns="0" rtlCol="0" anchor="t"/>
          <a:lstStyle/>
          <a:p>
            <a:pPr algn="l" indent="0" marL="0">
              <a:lnSpc>
                <a:spcPts val="2600"/>
              </a:lnSpc>
              <a:buNone/>
            </a:pPr>
            <a:r>
              <a:rPr lang="en-US" sz="2100" b="1" dirty="0">
                <a:solidFill>
                  <a:srgbClr val="333F70"/>
                </a:solidFill>
                <a:latin typeface="Unbounded Bold" pitchFamily="34" charset="0"/>
                <a:ea typeface="Unbounded Bold" pitchFamily="34" charset="-122"/>
                <a:cs typeface="Unbounded Bold" pitchFamily="34" charset="-120"/>
              </a:rPr>
              <a:t>Xử lý và lưu kho</a:t>
            </a:r>
            <a:endParaRPr lang="en-US" sz="2100" dirty="0"/>
          </a:p>
        </p:txBody>
      </p:sp>
      <p:sp>
        <p:nvSpPr>
          <p:cNvPr id="8" name="Text 6"/>
          <p:cNvSpPr/>
          <p:nvPr/>
        </p:nvSpPr>
        <p:spPr>
          <a:xfrm>
            <a:off x="4112181" y="3494127"/>
            <a:ext cx="3042523" cy="2396133"/>
          </a:xfrm>
          <a:prstGeom prst="rect">
            <a:avLst/>
          </a:prstGeom>
          <a:noFill/>
          <a:ln/>
        </p:spPr>
        <p:txBody>
          <a:bodyPr wrap="square" lIns="0" tIns="0" rIns="0" bIns="0" rtlCol="0" anchor="t"/>
          <a:lstStyle/>
          <a:p>
            <a:pPr algn="l" indent="0" marL="0">
              <a:lnSpc>
                <a:spcPts val="2650"/>
              </a:lnSpc>
              <a:buNone/>
            </a:pPr>
            <a:r>
              <a:rPr lang="en-US" sz="1650" dirty="0">
                <a:solidFill>
                  <a:srgbClr val="333F70"/>
                </a:solidFill>
                <a:latin typeface="Open Sans" pitchFamily="34" charset="0"/>
                <a:ea typeface="Open Sans" pitchFamily="34" charset="-122"/>
                <a:cs typeface="Open Sans" pitchFamily="34" charset="-120"/>
              </a:rPr>
              <a:t>Đơn hàng được xử lý và chuẩn bị tại kho. Mỗi thao tác với hàng hóa được ghi lại trên Blockchain, bao gồm thời gian, người thực hiện và trạng thái hàng hóa, tạo thành block thứ hai trong chuỗi.</a:t>
            </a:r>
            <a:endParaRPr lang="en-US" sz="1650" dirty="0"/>
          </a:p>
        </p:txBody>
      </p:sp>
      <p:sp>
        <p:nvSpPr>
          <p:cNvPr id="9" name="Shape 7"/>
          <p:cNvSpPr/>
          <p:nvPr/>
        </p:nvSpPr>
        <p:spPr>
          <a:xfrm>
            <a:off x="7475577" y="2175986"/>
            <a:ext cx="3042523" cy="213836"/>
          </a:xfrm>
          <a:prstGeom prst="roundRect">
            <a:avLst>
              <a:gd name="adj" fmla="val 42023"/>
            </a:avLst>
          </a:prstGeom>
          <a:solidFill>
            <a:srgbClr val="D6F5EE"/>
          </a:solidFill>
          <a:ln w="7620">
            <a:solidFill>
              <a:srgbClr val="BCDBD4"/>
            </a:solidFill>
            <a:prstDash val="solid"/>
          </a:ln>
        </p:spPr>
      </p:sp>
      <p:sp>
        <p:nvSpPr>
          <p:cNvPr id="10" name="Text 8"/>
          <p:cNvSpPr/>
          <p:nvPr/>
        </p:nvSpPr>
        <p:spPr>
          <a:xfrm>
            <a:off x="7475577" y="2710696"/>
            <a:ext cx="3042523" cy="668417"/>
          </a:xfrm>
          <a:prstGeom prst="rect">
            <a:avLst/>
          </a:prstGeom>
          <a:noFill/>
          <a:ln/>
        </p:spPr>
        <p:txBody>
          <a:bodyPr wrap="square" lIns="0" tIns="0" rIns="0" bIns="0" rtlCol="0" anchor="t"/>
          <a:lstStyle/>
          <a:p>
            <a:pPr algn="l" indent="0" marL="0">
              <a:lnSpc>
                <a:spcPts val="2600"/>
              </a:lnSpc>
              <a:buNone/>
            </a:pPr>
            <a:r>
              <a:rPr lang="en-US" sz="2100" b="1" dirty="0">
                <a:solidFill>
                  <a:srgbClr val="333F70"/>
                </a:solidFill>
                <a:latin typeface="Unbounded Bold" pitchFamily="34" charset="0"/>
                <a:ea typeface="Unbounded Bold" pitchFamily="34" charset="-122"/>
                <a:cs typeface="Unbounded Bold" pitchFamily="34" charset="-120"/>
              </a:rPr>
              <a:t>Vận chuyển và theo dõi</a:t>
            </a:r>
            <a:endParaRPr lang="en-US" sz="2100" dirty="0"/>
          </a:p>
        </p:txBody>
      </p:sp>
      <p:sp>
        <p:nvSpPr>
          <p:cNvPr id="11" name="Text 9"/>
          <p:cNvSpPr/>
          <p:nvPr/>
        </p:nvSpPr>
        <p:spPr>
          <a:xfrm>
            <a:off x="7475577" y="3507462"/>
            <a:ext cx="3042523" cy="2738437"/>
          </a:xfrm>
          <a:prstGeom prst="rect">
            <a:avLst/>
          </a:prstGeom>
          <a:noFill/>
          <a:ln/>
        </p:spPr>
        <p:txBody>
          <a:bodyPr wrap="square" lIns="0" tIns="0" rIns="0" bIns="0" rtlCol="0" anchor="t"/>
          <a:lstStyle/>
          <a:p>
            <a:pPr algn="l" indent="0" marL="0">
              <a:lnSpc>
                <a:spcPts val="2650"/>
              </a:lnSpc>
              <a:buNone/>
            </a:pPr>
            <a:r>
              <a:rPr lang="en-US" sz="1650" dirty="0">
                <a:solidFill>
                  <a:srgbClr val="333F70"/>
                </a:solidFill>
                <a:latin typeface="Open Sans" pitchFamily="34" charset="0"/>
                <a:ea typeface="Open Sans" pitchFamily="34" charset="-122"/>
                <a:cs typeface="Open Sans" pitchFamily="34" charset="-120"/>
              </a:rPr>
              <a:t>Quá trình vận chuyển được cập nhật liên tục lên Blockchain thông qua các thiết bị IoT. Người dùng có thể theo dõi lộ trình vận chuyển theo thời gian thực, với các thông tin được bảo đảm không thể thay đổi.</a:t>
            </a:r>
            <a:endParaRPr lang="en-US" sz="1650" dirty="0"/>
          </a:p>
        </p:txBody>
      </p:sp>
      <p:sp>
        <p:nvSpPr>
          <p:cNvPr id="12" name="Shape 10"/>
          <p:cNvSpPr/>
          <p:nvPr/>
        </p:nvSpPr>
        <p:spPr>
          <a:xfrm>
            <a:off x="10838974" y="1855113"/>
            <a:ext cx="3042642" cy="213836"/>
          </a:xfrm>
          <a:prstGeom prst="roundRect">
            <a:avLst>
              <a:gd name="adj" fmla="val 42023"/>
            </a:avLst>
          </a:prstGeom>
          <a:solidFill>
            <a:srgbClr val="D6F5EE"/>
          </a:solidFill>
          <a:ln w="7620">
            <a:solidFill>
              <a:srgbClr val="BCDBD4"/>
            </a:solidFill>
            <a:prstDash val="solid"/>
          </a:ln>
        </p:spPr>
      </p:sp>
      <p:sp>
        <p:nvSpPr>
          <p:cNvPr id="13" name="Text 11"/>
          <p:cNvSpPr/>
          <p:nvPr/>
        </p:nvSpPr>
        <p:spPr>
          <a:xfrm>
            <a:off x="10838974" y="2389823"/>
            <a:ext cx="3042642" cy="668417"/>
          </a:xfrm>
          <a:prstGeom prst="rect">
            <a:avLst/>
          </a:prstGeom>
          <a:noFill/>
          <a:ln/>
        </p:spPr>
        <p:txBody>
          <a:bodyPr wrap="square" lIns="0" tIns="0" rIns="0" bIns="0" rtlCol="0" anchor="t"/>
          <a:lstStyle/>
          <a:p>
            <a:pPr algn="l" indent="0" marL="0">
              <a:lnSpc>
                <a:spcPts val="2600"/>
              </a:lnSpc>
              <a:buNone/>
            </a:pPr>
            <a:r>
              <a:rPr lang="en-US" sz="2100" b="1" dirty="0">
                <a:solidFill>
                  <a:srgbClr val="333F70"/>
                </a:solidFill>
                <a:latin typeface="Unbounded Bold" pitchFamily="34" charset="0"/>
                <a:ea typeface="Unbounded Bold" pitchFamily="34" charset="-122"/>
                <a:cs typeface="Unbounded Bold" pitchFamily="34" charset="-120"/>
              </a:rPr>
              <a:t>Bàn giao và xác thực</a:t>
            </a:r>
            <a:endParaRPr lang="en-US" sz="2100" dirty="0"/>
          </a:p>
        </p:txBody>
      </p:sp>
      <p:sp>
        <p:nvSpPr>
          <p:cNvPr id="14" name="Text 12"/>
          <p:cNvSpPr/>
          <p:nvPr/>
        </p:nvSpPr>
        <p:spPr>
          <a:xfrm>
            <a:off x="10838974" y="3186589"/>
            <a:ext cx="3042642" cy="2396133"/>
          </a:xfrm>
          <a:prstGeom prst="rect">
            <a:avLst/>
          </a:prstGeom>
          <a:noFill/>
          <a:ln/>
        </p:spPr>
        <p:txBody>
          <a:bodyPr wrap="square" lIns="0" tIns="0" rIns="0" bIns="0" rtlCol="0" anchor="t"/>
          <a:lstStyle/>
          <a:p>
            <a:pPr algn="l" indent="0" marL="0">
              <a:lnSpc>
                <a:spcPts val="2650"/>
              </a:lnSpc>
              <a:buNone/>
            </a:pPr>
            <a:r>
              <a:rPr lang="en-US" sz="1650" dirty="0">
                <a:solidFill>
                  <a:srgbClr val="333F70"/>
                </a:solidFill>
                <a:latin typeface="Open Sans" pitchFamily="34" charset="0"/>
                <a:ea typeface="Open Sans" pitchFamily="34" charset="-122"/>
                <a:cs typeface="Open Sans" pitchFamily="34" charset="-120"/>
              </a:rPr>
              <a:t>Khi giao hàng, cả người nhận và người giao đều xác nhận thông qua ứng dụng di động, tạo block cuối cùng và hoàn tất giao dịch. Toàn bộ hành trình của sản phẩm được lưu trữ vĩnh viễn trên Blockchain.</a:t>
            </a:r>
            <a:endParaRPr lang="en-US" sz="1650" dirty="0"/>
          </a:p>
        </p:txBody>
      </p:sp>
      <p:sp>
        <p:nvSpPr>
          <p:cNvPr id="15" name="Text 13"/>
          <p:cNvSpPr/>
          <p:nvPr/>
        </p:nvSpPr>
        <p:spPr>
          <a:xfrm>
            <a:off x="748784" y="6786086"/>
            <a:ext cx="13132832" cy="684609"/>
          </a:xfrm>
          <a:prstGeom prst="rect">
            <a:avLst/>
          </a:prstGeom>
          <a:noFill/>
          <a:ln/>
        </p:spPr>
        <p:txBody>
          <a:bodyPr wrap="square" lIns="0" tIns="0" rIns="0" bIns="0" rtlCol="0" anchor="t"/>
          <a:lstStyle/>
          <a:p>
            <a:pPr algn="l" indent="0" marL="0">
              <a:lnSpc>
                <a:spcPts val="2650"/>
              </a:lnSpc>
              <a:buNone/>
            </a:pPr>
            <a:r>
              <a:rPr lang="en-US" sz="1650" dirty="0">
                <a:solidFill>
                  <a:srgbClr val="333F70"/>
                </a:solidFill>
                <a:latin typeface="Open Sans" pitchFamily="34" charset="0"/>
                <a:ea typeface="Open Sans" pitchFamily="34" charset="-122"/>
                <a:cs typeface="Open Sans" pitchFamily="34" charset="-120"/>
              </a:rPr>
              <a:t>Phần mềm mô phỏng được phát triển sẽ tái hiện toàn bộ quy trình trên một cách trực quan, cho phép người dùng tương tác và hiểu rõ cách thức hoạt động của hệ thống trong từng tình huống cụ thể.</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57225" y="516731"/>
            <a:ext cx="5785247" cy="586978"/>
          </a:xfrm>
          <a:prstGeom prst="rect">
            <a:avLst/>
          </a:prstGeom>
          <a:noFill/>
          <a:ln/>
        </p:spPr>
        <p:txBody>
          <a:bodyPr wrap="none" lIns="0" tIns="0" rIns="0" bIns="0" rtlCol="0" anchor="t"/>
          <a:lstStyle/>
          <a:p>
            <a:pPr algn="l" indent="0" marL="0">
              <a:lnSpc>
                <a:spcPts val="4600"/>
              </a:lnSpc>
              <a:buNone/>
            </a:pPr>
            <a:r>
              <a:rPr lang="en-US" sz="3650" b="1" dirty="0">
                <a:solidFill>
                  <a:srgbClr val="333F70"/>
                </a:solidFill>
                <a:latin typeface="Unbounded Bold" pitchFamily="34" charset="0"/>
                <a:ea typeface="Unbounded Bold" pitchFamily="34" charset="-122"/>
                <a:cs typeface="Unbounded Bold" pitchFamily="34" charset="-120"/>
              </a:rPr>
              <a:t>Kế Hoạch Thực Hiện</a:t>
            </a:r>
            <a:endParaRPr lang="en-US" sz="3650" dirty="0"/>
          </a:p>
        </p:txBody>
      </p:sp>
      <p:sp>
        <p:nvSpPr>
          <p:cNvPr id="3" name="Shape 1"/>
          <p:cNvSpPr/>
          <p:nvPr/>
        </p:nvSpPr>
        <p:spPr>
          <a:xfrm>
            <a:off x="657225" y="1479233"/>
            <a:ext cx="1664494" cy="1082040"/>
          </a:xfrm>
          <a:prstGeom prst="roundRect">
            <a:avLst>
              <a:gd name="adj" fmla="val 7290"/>
            </a:avLst>
          </a:prstGeom>
          <a:solidFill>
            <a:srgbClr val="D6F5EE"/>
          </a:solidFill>
          <a:ln w="7620">
            <a:solidFill>
              <a:srgbClr val="BCDBD4"/>
            </a:solidFill>
            <a:prstDash val="solid"/>
          </a:ln>
        </p:spPr>
      </p:sp>
      <p:pic>
        <p:nvPicPr>
          <p:cNvPr id="4" name="Image 0" descr="preencoded.png">    </p:cNvPr>
          <p:cNvPicPr>
            <a:picLocks noChangeAspect="1"/>
          </p:cNvPicPr>
          <p:nvPr/>
        </p:nvPicPr>
        <p:blipFill>
          <a:blip r:embed="rId1"/>
          <a:stretch>
            <a:fillRect/>
          </a:stretch>
        </p:blipFill>
        <p:spPr>
          <a:xfrm>
            <a:off x="1357432" y="1855232"/>
            <a:ext cx="264081" cy="330041"/>
          </a:xfrm>
          <a:prstGeom prst="rect">
            <a:avLst/>
          </a:prstGeom>
        </p:spPr>
      </p:pic>
      <p:sp>
        <p:nvSpPr>
          <p:cNvPr id="5" name="Text 2"/>
          <p:cNvSpPr/>
          <p:nvPr/>
        </p:nvSpPr>
        <p:spPr>
          <a:xfrm>
            <a:off x="2509480" y="1666994"/>
            <a:ext cx="2347555" cy="293489"/>
          </a:xfrm>
          <a:prstGeom prst="rect">
            <a:avLst/>
          </a:prstGeom>
          <a:noFill/>
          <a:ln/>
        </p:spPr>
        <p:txBody>
          <a:bodyPr wrap="none" lIns="0" tIns="0" rIns="0" bIns="0" rtlCol="0" anchor="t"/>
          <a:lstStyle/>
          <a:p>
            <a:pPr algn="l" indent="0" marL="0">
              <a:lnSpc>
                <a:spcPts val="2300"/>
              </a:lnSpc>
              <a:buNone/>
            </a:pPr>
            <a:r>
              <a:rPr lang="en-US" sz="1800" b="1" dirty="0">
                <a:solidFill>
                  <a:srgbClr val="333F70"/>
                </a:solidFill>
                <a:latin typeface="Unbounded Bold" pitchFamily="34" charset="0"/>
                <a:ea typeface="Unbounded Bold" pitchFamily="34" charset="-122"/>
                <a:cs typeface="Unbounded Bold" pitchFamily="34" charset="-120"/>
              </a:rPr>
              <a:t>Tháng 1/2025</a:t>
            </a:r>
            <a:endParaRPr lang="en-US" sz="1800" dirty="0"/>
          </a:p>
        </p:txBody>
      </p:sp>
      <p:sp>
        <p:nvSpPr>
          <p:cNvPr id="6" name="Text 3"/>
          <p:cNvSpPr/>
          <p:nvPr/>
        </p:nvSpPr>
        <p:spPr>
          <a:xfrm>
            <a:off x="2509480" y="2073116"/>
            <a:ext cx="3348752" cy="300395"/>
          </a:xfrm>
          <a:prstGeom prst="rect">
            <a:avLst/>
          </a:prstGeom>
          <a:noFill/>
          <a:ln/>
        </p:spPr>
        <p:txBody>
          <a:bodyPr wrap="none" lIns="0" tIns="0" rIns="0" bIns="0" rtlCol="0" anchor="t"/>
          <a:lstStyle/>
          <a:p>
            <a:pPr algn="l" indent="0" marL="0">
              <a:lnSpc>
                <a:spcPts val="2350"/>
              </a:lnSpc>
              <a:buNone/>
            </a:pPr>
            <a:r>
              <a:rPr lang="en-US" sz="1450" dirty="0">
                <a:solidFill>
                  <a:srgbClr val="333F70"/>
                </a:solidFill>
                <a:latin typeface="Open Sans" pitchFamily="34" charset="0"/>
                <a:ea typeface="Open Sans" pitchFamily="34" charset="-122"/>
                <a:cs typeface="Open Sans" pitchFamily="34" charset="-120"/>
              </a:rPr>
              <a:t>Xây dựng đề cương và thu thập tài liệu</a:t>
            </a:r>
            <a:endParaRPr lang="en-US" sz="1450" dirty="0"/>
          </a:p>
        </p:txBody>
      </p:sp>
      <p:sp>
        <p:nvSpPr>
          <p:cNvPr id="7" name="Shape 4"/>
          <p:cNvSpPr/>
          <p:nvPr/>
        </p:nvSpPr>
        <p:spPr>
          <a:xfrm>
            <a:off x="2415540" y="2551748"/>
            <a:ext cx="11463814" cy="11430"/>
          </a:xfrm>
          <a:prstGeom prst="roundRect">
            <a:avLst>
              <a:gd name="adj" fmla="val 690114"/>
            </a:avLst>
          </a:prstGeom>
          <a:solidFill>
            <a:srgbClr val="BCDBD4"/>
          </a:solidFill>
          <a:ln/>
        </p:spPr>
      </p:sp>
      <p:sp>
        <p:nvSpPr>
          <p:cNvPr id="8" name="Shape 5"/>
          <p:cNvSpPr/>
          <p:nvPr/>
        </p:nvSpPr>
        <p:spPr>
          <a:xfrm>
            <a:off x="657225" y="2655094"/>
            <a:ext cx="3328988" cy="1082040"/>
          </a:xfrm>
          <a:prstGeom prst="roundRect">
            <a:avLst>
              <a:gd name="adj" fmla="val 7290"/>
            </a:avLst>
          </a:prstGeom>
          <a:solidFill>
            <a:srgbClr val="D6F5EE"/>
          </a:solidFill>
          <a:ln w="7620">
            <a:solidFill>
              <a:srgbClr val="BCDBD4"/>
            </a:solidFill>
            <a:prstDash val="solid"/>
          </a:ln>
        </p:spPr>
      </p:sp>
      <p:pic>
        <p:nvPicPr>
          <p:cNvPr id="9" name="Image 1" descr="preencoded.png">    </p:cNvPr>
          <p:cNvPicPr>
            <a:picLocks noChangeAspect="1"/>
          </p:cNvPicPr>
          <p:nvPr/>
        </p:nvPicPr>
        <p:blipFill>
          <a:blip r:embed="rId2"/>
          <a:stretch>
            <a:fillRect/>
          </a:stretch>
        </p:blipFill>
        <p:spPr>
          <a:xfrm>
            <a:off x="2189678" y="3031093"/>
            <a:ext cx="264081" cy="330041"/>
          </a:xfrm>
          <a:prstGeom prst="rect">
            <a:avLst/>
          </a:prstGeom>
        </p:spPr>
      </p:pic>
      <p:sp>
        <p:nvSpPr>
          <p:cNvPr id="10" name="Text 6"/>
          <p:cNvSpPr/>
          <p:nvPr/>
        </p:nvSpPr>
        <p:spPr>
          <a:xfrm>
            <a:off x="4173974" y="2842855"/>
            <a:ext cx="2378631" cy="293489"/>
          </a:xfrm>
          <a:prstGeom prst="rect">
            <a:avLst/>
          </a:prstGeom>
          <a:noFill/>
          <a:ln/>
        </p:spPr>
        <p:txBody>
          <a:bodyPr wrap="none" lIns="0" tIns="0" rIns="0" bIns="0" rtlCol="0" anchor="t"/>
          <a:lstStyle/>
          <a:p>
            <a:pPr algn="l" indent="0" marL="0">
              <a:lnSpc>
                <a:spcPts val="2300"/>
              </a:lnSpc>
              <a:buNone/>
            </a:pPr>
            <a:r>
              <a:rPr lang="en-US" sz="1800" b="1" dirty="0">
                <a:solidFill>
                  <a:srgbClr val="333F70"/>
                </a:solidFill>
                <a:latin typeface="Unbounded Bold" pitchFamily="34" charset="0"/>
                <a:ea typeface="Unbounded Bold" pitchFamily="34" charset="-122"/>
                <a:cs typeface="Unbounded Bold" pitchFamily="34" charset="-120"/>
              </a:rPr>
              <a:t>Tháng 2-3/2025</a:t>
            </a:r>
            <a:endParaRPr lang="en-US" sz="1800" dirty="0"/>
          </a:p>
        </p:txBody>
      </p:sp>
      <p:sp>
        <p:nvSpPr>
          <p:cNvPr id="11" name="Text 7"/>
          <p:cNvSpPr/>
          <p:nvPr/>
        </p:nvSpPr>
        <p:spPr>
          <a:xfrm>
            <a:off x="4173974" y="3248978"/>
            <a:ext cx="3623667" cy="300395"/>
          </a:xfrm>
          <a:prstGeom prst="rect">
            <a:avLst/>
          </a:prstGeom>
          <a:noFill/>
          <a:ln/>
        </p:spPr>
        <p:txBody>
          <a:bodyPr wrap="none" lIns="0" tIns="0" rIns="0" bIns="0" rtlCol="0" anchor="t"/>
          <a:lstStyle/>
          <a:p>
            <a:pPr algn="l" indent="0" marL="0">
              <a:lnSpc>
                <a:spcPts val="2350"/>
              </a:lnSpc>
              <a:buNone/>
            </a:pPr>
            <a:r>
              <a:rPr lang="en-US" sz="1450" dirty="0">
                <a:solidFill>
                  <a:srgbClr val="333F70"/>
                </a:solidFill>
                <a:latin typeface="Open Sans" pitchFamily="34" charset="0"/>
                <a:ea typeface="Open Sans" pitchFamily="34" charset="-122"/>
                <a:cs typeface="Open Sans" pitchFamily="34" charset="-120"/>
              </a:rPr>
              <a:t>Thiết kế mô hình và phát triển phần mềm</a:t>
            </a:r>
            <a:endParaRPr lang="en-US" sz="1450" dirty="0"/>
          </a:p>
        </p:txBody>
      </p:sp>
      <p:sp>
        <p:nvSpPr>
          <p:cNvPr id="12" name="Shape 8"/>
          <p:cNvSpPr/>
          <p:nvPr/>
        </p:nvSpPr>
        <p:spPr>
          <a:xfrm>
            <a:off x="4080034" y="3727609"/>
            <a:ext cx="9799320" cy="11430"/>
          </a:xfrm>
          <a:prstGeom prst="roundRect">
            <a:avLst>
              <a:gd name="adj" fmla="val 690114"/>
            </a:avLst>
          </a:prstGeom>
          <a:solidFill>
            <a:srgbClr val="BCDBD4"/>
          </a:solidFill>
          <a:ln/>
        </p:spPr>
      </p:sp>
      <p:sp>
        <p:nvSpPr>
          <p:cNvPr id="13" name="Shape 9"/>
          <p:cNvSpPr/>
          <p:nvPr/>
        </p:nvSpPr>
        <p:spPr>
          <a:xfrm>
            <a:off x="657225" y="3830955"/>
            <a:ext cx="4993481" cy="1082040"/>
          </a:xfrm>
          <a:prstGeom prst="roundRect">
            <a:avLst>
              <a:gd name="adj" fmla="val 7290"/>
            </a:avLst>
          </a:prstGeom>
          <a:solidFill>
            <a:srgbClr val="D6F5EE"/>
          </a:solidFill>
          <a:ln w="7620">
            <a:solidFill>
              <a:srgbClr val="BCDBD4"/>
            </a:solidFill>
            <a:prstDash val="solid"/>
          </a:ln>
        </p:spPr>
      </p:sp>
      <p:pic>
        <p:nvPicPr>
          <p:cNvPr id="14" name="Image 2" descr="preencoded.png">    </p:cNvPr>
          <p:cNvPicPr>
            <a:picLocks noChangeAspect="1"/>
          </p:cNvPicPr>
          <p:nvPr/>
        </p:nvPicPr>
        <p:blipFill>
          <a:blip r:embed="rId3"/>
          <a:stretch>
            <a:fillRect/>
          </a:stretch>
        </p:blipFill>
        <p:spPr>
          <a:xfrm>
            <a:off x="3021925" y="4206954"/>
            <a:ext cx="264081" cy="330041"/>
          </a:xfrm>
          <a:prstGeom prst="rect">
            <a:avLst/>
          </a:prstGeom>
        </p:spPr>
      </p:pic>
      <p:sp>
        <p:nvSpPr>
          <p:cNvPr id="15" name="Text 10"/>
          <p:cNvSpPr/>
          <p:nvPr/>
        </p:nvSpPr>
        <p:spPr>
          <a:xfrm>
            <a:off x="5838468" y="4018717"/>
            <a:ext cx="2347555" cy="293489"/>
          </a:xfrm>
          <a:prstGeom prst="rect">
            <a:avLst/>
          </a:prstGeom>
          <a:noFill/>
          <a:ln/>
        </p:spPr>
        <p:txBody>
          <a:bodyPr wrap="none" lIns="0" tIns="0" rIns="0" bIns="0" rtlCol="0" anchor="t"/>
          <a:lstStyle/>
          <a:p>
            <a:pPr algn="l" indent="0" marL="0">
              <a:lnSpc>
                <a:spcPts val="2300"/>
              </a:lnSpc>
              <a:buNone/>
            </a:pPr>
            <a:r>
              <a:rPr lang="en-US" sz="1800" b="1" dirty="0">
                <a:solidFill>
                  <a:srgbClr val="333F70"/>
                </a:solidFill>
                <a:latin typeface="Unbounded Bold" pitchFamily="34" charset="0"/>
                <a:ea typeface="Unbounded Bold" pitchFamily="34" charset="-122"/>
                <a:cs typeface="Unbounded Bold" pitchFamily="34" charset="-120"/>
              </a:rPr>
              <a:t>Tháng 4/2025</a:t>
            </a:r>
            <a:endParaRPr lang="en-US" sz="1800" dirty="0"/>
          </a:p>
        </p:txBody>
      </p:sp>
      <p:sp>
        <p:nvSpPr>
          <p:cNvPr id="16" name="Text 11"/>
          <p:cNvSpPr/>
          <p:nvPr/>
        </p:nvSpPr>
        <p:spPr>
          <a:xfrm>
            <a:off x="5838468" y="4424839"/>
            <a:ext cx="3365063" cy="300395"/>
          </a:xfrm>
          <a:prstGeom prst="rect">
            <a:avLst/>
          </a:prstGeom>
          <a:noFill/>
          <a:ln/>
        </p:spPr>
        <p:txBody>
          <a:bodyPr wrap="none" lIns="0" tIns="0" rIns="0" bIns="0" rtlCol="0" anchor="t"/>
          <a:lstStyle/>
          <a:p>
            <a:pPr algn="l" indent="0" marL="0">
              <a:lnSpc>
                <a:spcPts val="2350"/>
              </a:lnSpc>
              <a:buNone/>
            </a:pPr>
            <a:r>
              <a:rPr lang="en-US" sz="1450" dirty="0">
                <a:solidFill>
                  <a:srgbClr val="333F70"/>
                </a:solidFill>
                <a:latin typeface="Open Sans" pitchFamily="34" charset="0"/>
                <a:ea typeface="Open Sans" pitchFamily="34" charset="-122"/>
                <a:cs typeface="Open Sans" pitchFamily="34" charset="-120"/>
              </a:rPr>
              <a:t>Khảo sát, thu thập và phân tích dữ liệu</a:t>
            </a:r>
            <a:endParaRPr lang="en-US" sz="1450" dirty="0"/>
          </a:p>
        </p:txBody>
      </p:sp>
      <p:sp>
        <p:nvSpPr>
          <p:cNvPr id="17" name="Shape 12"/>
          <p:cNvSpPr/>
          <p:nvPr/>
        </p:nvSpPr>
        <p:spPr>
          <a:xfrm>
            <a:off x="5744528" y="4903470"/>
            <a:ext cx="8134826" cy="11430"/>
          </a:xfrm>
          <a:prstGeom prst="roundRect">
            <a:avLst>
              <a:gd name="adj" fmla="val 690114"/>
            </a:avLst>
          </a:prstGeom>
          <a:solidFill>
            <a:srgbClr val="BCDBD4"/>
          </a:solidFill>
          <a:ln/>
        </p:spPr>
      </p:sp>
      <p:sp>
        <p:nvSpPr>
          <p:cNvPr id="18" name="Shape 13"/>
          <p:cNvSpPr/>
          <p:nvPr/>
        </p:nvSpPr>
        <p:spPr>
          <a:xfrm>
            <a:off x="657225" y="5006816"/>
            <a:ext cx="6657975" cy="1082040"/>
          </a:xfrm>
          <a:prstGeom prst="roundRect">
            <a:avLst>
              <a:gd name="adj" fmla="val 7290"/>
            </a:avLst>
          </a:prstGeom>
          <a:solidFill>
            <a:srgbClr val="D6F5EE"/>
          </a:solidFill>
          <a:ln w="7620">
            <a:solidFill>
              <a:srgbClr val="BCDBD4"/>
            </a:solidFill>
            <a:prstDash val="solid"/>
          </a:ln>
        </p:spPr>
      </p:sp>
      <p:pic>
        <p:nvPicPr>
          <p:cNvPr id="19" name="Image 3" descr="preencoded.png">    </p:cNvPr>
          <p:cNvPicPr>
            <a:picLocks noChangeAspect="1"/>
          </p:cNvPicPr>
          <p:nvPr/>
        </p:nvPicPr>
        <p:blipFill>
          <a:blip r:embed="rId4"/>
          <a:stretch>
            <a:fillRect/>
          </a:stretch>
        </p:blipFill>
        <p:spPr>
          <a:xfrm>
            <a:off x="3854172" y="5382816"/>
            <a:ext cx="264081" cy="330041"/>
          </a:xfrm>
          <a:prstGeom prst="rect">
            <a:avLst/>
          </a:prstGeom>
        </p:spPr>
      </p:pic>
      <p:sp>
        <p:nvSpPr>
          <p:cNvPr id="20" name="Text 14"/>
          <p:cNvSpPr/>
          <p:nvPr/>
        </p:nvSpPr>
        <p:spPr>
          <a:xfrm>
            <a:off x="7502962" y="5194578"/>
            <a:ext cx="2347555" cy="293489"/>
          </a:xfrm>
          <a:prstGeom prst="rect">
            <a:avLst/>
          </a:prstGeom>
          <a:noFill/>
          <a:ln/>
        </p:spPr>
        <p:txBody>
          <a:bodyPr wrap="none" lIns="0" tIns="0" rIns="0" bIns="0" rtlCol="0" anchor="t"/>
          <a:lstStyle/>
          <a:p>
            <a:pPr algn="l" indent="0" marL="0">
              <a:lnSpc>
                <a:spcPts val="2300"/>
              </a:lnSpc>
              <a:buNone/>
            </a:pPr>
            <a:r>
              <a:rPr lang="en-US" sz="1800" b="1" dirty="0">
                <a:solidFill>
                  <a:srgbClr val="333F70"/>
                </a:solidFill>
                <a:latin typeface="Unbounded Bold" pitchFamily="34" charset="0"/>
                <a:ea typeface="Unbounded Bold" pitchFamily="34" charset="-122"/>
                <a:cs typeface="Unbounded Bold" pitchFamily="34" charset="-120"/>
              </a:rPr>
              <a:t>Tháng 5/2025</a:t>
            </a:r>
            <a:endParaRPr lang="en-US" sz="1800" dirty="0"/>
          </a:p>
        </p:txBody>
      </p:sp>
      <p:sp>
        <p:nvSpPr>
          <p:cNvPr id="21" name="Text 15"/>
          <p:cNvSpPr/>
          <p:nvPr/>
        </p:nvSpPr>
        <p:spPr>
          <a:xfrm>
            <a:off x="7502962" y="5600700"/>
            <a:ext cx="3399711" cy="300395"/>
          </a:xfrm>
          <a:prstGeom prst="rect">
            <a:avLst/>
          </a:prstGeom>
          <a:noFill/>
          <a:ln/>
        </p:spPr>
        <p:txBody>
          <a:bodyPr wrap="none" lIns="0" tIns="0" rIns="0" bIns="0" rtlCol="0" anchor="t"/>
          <a:lstStyle/>
          <a:p>
            <a:pPr algn="l" indent="0" marL="0">
              <a:lnSpc>
                <a:spcPts val="2350"/>
              </a:lnSpc>
              <a:buNone/>
            </a:pPr>
            <a:r>
              <a:rPr lang="en-US" sz="1450" dirty="0">
                <a:solidFill>
                  <a:srgbClr val="333F70"/>
                </a:solidFill>
                <a:latin typeface="Open Sans" pitchFamily="34" charset="0"/>
                <a:ea typeface="Open Sans" pitchFamily="34" charset="-122"/>
                <a:cs typeface="Open Sans" pitchFamily="34" charset="-120"/>
              </a:rPr>
              <a:t>Hoàn thiện báo cáo và công bố kết quả</a:t>
            </a:r>
            <a:endParaRPr lang="en-US" sz="1450" dirty="0"/>
          </a:p>
        </p:txBody>
      </p:sp>
      <p:sp>
        <p:nvSpPr>
          <p:cNvPr id="22" name="Text 16"/>
          <p:cNvSpPr/>
          <p:nvPr/>
        </p:nvSpPr>
        <p:spPr>
          <a:xfrm>
            <a:off x="657225" y="6300073"/>
            <a:ext cx="13315950" cy="600789"/>
          </a:xfrm>
          <a:prstGeom prst="rect">
            <a:avLst/>
          </a:prstGeom>
          <a:noFill/>
          <a:ln/>
        </p:spPr>
        <p:txBody>
          <a:bodyPr wrap="square" lIns="0" tIns="0" rIns="0" bIns="0" rtlCol="0" anchor="t"/>
          <a:lstStyle/>
          <a:p>
            <a:pPr algn="l" indent="0" marL="0">
              <a:lnSpc>
                <a:spcPts val="2350"/>
              </a:lnSpc>
              <a:buNone/>
            </a:pPr>
            <a:r>
              <a:rPr lang="en-US" sz="1450" dirty="0">
                <a:solidFill>
                  <a:srgbClr val="333F70"/>
                </a:solidFill>
                <a:latin typeface="Open Sans" pitchFamily="34" charset="0"/>
                <a:ea typeface="Open Sans" pitchFamily="34" charset="-122"/>
                <a:cs typeface="Open Sans" pitchFamily="34" charset="-120"/>
              </a:rPr>
              <a:t>Kế hoạch thực hiện được thiết kế với lộ trình rõ ràng, đảm bảo tiến độ nghiên cứu và chất lượng của từng giai đoạn. Các điểm mốc quan trọng được xác định để đánh giá tiến độ và điều chỉnh phương pháp nếu cần thiết.</a:t>
            </a:r>
            <a:endParaRPr lang="en-US" sz="1450" dirty="0"/>
          </a:p>
        </p:txBody>
      </p:sp>
      <p:sp>
        <p:nvSpPr>
          <p:cNvPr id="23" name="Text 17"/>
          <p:cNvSpPr/>
          <p:nvPr/>
        </p:nvSpPr>
        <p:spPr>
          <a:xfrm>
            <a:off x="657225" y="7112079"/>
            <a:ext cx="13315950" cy="600789"/>
          </a:xfrm>
          <a:prstGeom prst="rect">
            <a:avLst/>
          </a:prstGeom>
          <a:noFill/>
          <a:ln/>
        </p:spPr>
        <p:txBody>
          <a:bodyPr wrap="square" lIns="0" tIns="0" rIns="0" bIns="0" rtlCol="0" anchor="t"/>
          <a:lstStyle/>
          <a:p>
            <a:pPr algn="l" indent="0" marL="0">
              <a:lnSpc>
                <a:spcPts val="2350"/>
              </a:lnSpc>
              <a:buNone/>
            </a:pPr>
            <a:r>
              <a:rPr lang="en-US" sz="1450" dirty="0">
                <a:solidFill>
                  <a:srgbClr val="333F70"/>
                </a:solidFill>
                <a:latin typeface="Open Sans" pitchFamily="34" charset="0"/>
                <a:ea typeface="Open Sans" pitchFamily="34" charset="-122"/>
                <a:cs typeface="Open Sans" pitchFamily="34" charset="-120"/>
              </a:rPr>
              <a:t>Đội ngũ nghiên cứu sẽ họp định kỳ hàng tuần để báo cáo tiến độ và giải quyết các vấn đề phát sinh. Việc theo dõi chặt chẽ kế hoạch sẽ giúp đảm bảo nghiên cứu được hoàn thành đúng thời hạn với kết quả chất lượng.</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55333" y="593527"/>
            <a:ext cx="11932682" cy="674489"/>
          </a:xfrm>
          <a:prstGeom prst="rect">
            <a:avLst/>
          </a:prstGeom>
          <a:noFill/>
          <a:ln/>
        </p:spPr>
        <p:txBody>
          <a:bodyPr wrap="none" lIns="0" tIns="0" rIns="0" bIns="0" rtlCol="0" anchor="t"/>
          <a:lstStyle/>
          <a:p>
            <a:pPr algn="l" indent="0" marL="0">
              <a:lnSpc>
                <a:spcPts val="5300"/>
              </a:lnSpc>
              <a:buNone/>
            </a:pPr>
            <a:r>
              <a:rPr lang="en-US" sz="4200" b="1" dirty="0">
                <a:solidFill>
                  <a:srgbClr val="333F70"/>
                </a:solidFill>
                <a:latin typeface="Unbounded Bold" pitchFamily="34" charset="0"/>
                <a:ea typeface="Unbounded Bold" pitchFamily="34" charset="-122"/>
                <a:cs typeface="Unbounded Bold" pitchFamily="34" charset="-120"/>
              </a:rPr>
              <a:t>Kết Quả Và Ý Nghĩa Của Nghiên Cứu</a:t>
            </a:r>
            <a:endParaRPr lang="en-US" sz="4200" dirty="0"/>
          </a:p>
        </p:txBody>
      </p:sp>
      <p:sp>
        <p:nvSpPr>
          <p:cNvPr id="3" name="Text 1"/>
          <p:cNvSpPr/>
          <p:nvPr/>
        </p:nvSpPr>
        <p:spPr>
          <a:xfrm>
            <a:off x="755333" y="1807488"/>
            <a:ext cx="2985373" cy="337185"/>
          </a:xfrm>
          <a:prstGeom prst="rect">
            <a:avLst/>
          </a:prstGeom>
          <a:noFill/>
          <a:ln/>
        </p:spPr>
        <p:txBody>
          <a:bodyPr wrap="none" lIns="0" tIns="0" rIns="0" bIns="0" rtlCol="0" anchor="t"/>
          <a:lstStyle/>
          <a:p>
            <a:pPr algn="l" indent="0" marL="0">
              <a:lnSpc>
                <a:spcPts val="2650"/>
              </a:lnSpc>
              <a:buNone/>
            </a:pPr>
            <a:r>
              <a:rPr lang="en-US" sz="2100" b="1" dirty="0">
                <a:solidFill>
                  <a:srgbClr val="333F70"/>
                </a:solidFill>
                <a:latin typeface="Unbounded Bold" pitchFamily="34" charset="0"/>
                <a:ea typeface="Unbounded Bold" pitchFamily="34" charset="-122"/>
                <a:cs typeface="Unbounded Bold" pitchFamily="34" charset="-120"/>
              </a:rPr>
              <a:t>Sản phẩm dự kiến</a:t>
            </a:r>
            <a:endParaRPr lang="en-US" sz="2100" dirty="0"/>
          </a:p>
        </p:txBody>
      </p:sp>
      <p:sp>
        <p:nvSpPr>
          <p:cNvPr id="4" name="Text 2"/>
          <p:cNvSpPr/>
          <p:nvPr/>
        </p:nvSpPr>
        <p:spPr>
          <a:xfrm>
            <a:off x="755333" y="2360414"/>
            <a:ext cx="6296620" cy="690563"/>
          </a:xfrm>
          <a:prstGeom prst="rect">
            <a:avLst/>
          </a:prstGeom>
          <a:noFill/>
          <a:ln/>
        </p:spPr>
        <p:txBody>
          <a:bodyPr wrap="square" lIns="0" tIns="0" rIns="0" bIns="0" rtlCol="0" anchor="t"/>
          <a:lstStyle/>
          <a:p>
            <a:pPr algn="l" marL="342900" indent="-342900">
              <a:lnSpc>
                <a:spcPts val="2700"/>
              </a:lnSpc>
              <a:buSzPct val="100000"/>
              <a:buChar char="•"/>
            </a:pPr>
            <a:r>
              <a:rPr lang="en-US" sz="1650" dirty="0">
                <a:solidFill>
                  <a:srgbClr val="333F70"/>
                </a:solidFill>
                <a:latin typeface="Open Sans" pitchFamily="34" charset="0"/>
                <a:ea typeface="Open Sans" pitchFamily="34" charset="-122"/>
                <a:cs typeface="Open Sans" pitchFamily="34" charset="-120"/>
              </a:rPr>
              <a:t>Mô hình lý thuyết về ứng dụng Blockchain trong chuỗi cung ứng tại Việt Nam</a:t>
            </a:r>
            <a:endParaRPr lang="en-US" sz="1650" dirty="0"/>
          </a:p>
        </p:txBody>
      </p:sp>
      <p:sp>
        <p:nvSpPr>
          <p:cNvPr id="5" name="Text 3"/>
          <p:cNvSpPr/>
          <p:nvPr/>
        </p:nvSpPr>
        <p:spPr>
          <a:xfrm>
            <a:off x="755333" y="3126462"/>
            <a:ext cx="6296620" cy="690563"/>
          </a:xfrm>
          <a:prstGeom prst="rect">
            <a:avLst/>
          </a:prstGeom>
          <a:noFill/>
          <a:ln/>
        </p:spPr>
        <p:txBody>
          <a:bodyPr wrap="square" lIns="0" tIns="0" rIns="0" bIns="0" rtlCol="0" anchor="t"/>
          <a:lstStyle/>
          <a:p>
            <a:pPr algn="l" marL="342900" indent="-342900">
              <a:lnSpc>
                <a:spcPts val="2700"/>
              </a:lnSpc>
              <a:buSzPct val="100000"/>
              <a:buChar char="•"/>
            </a:pPr>
            <a:r>
              <a:rPr lang="en-US" sz="1650" dirty="0">
                <a:solidFill>
                  <a:srgbClr val="333F70"/>
                </a:solidFill>
                <a:latin typeface="Open Sans" pitchFamily="34" charset="0"/>
                <a:ea typeface="Open Sans" pitchFamily="34" charset="-122"/>
                <a:cs typeface="Open Sans" pitchFamily="34" charset="-120"/>
              </a:rPr>
              <a:t>Phần mềm mô phỏng minh họa quy trình hoạt động của giải pháp</a:t>
            </a:r>
            <a:endParaRPr lang="en-US" sz="1650" dirty="0"/>
          </a:p>
        </p:txBody>
      </p:sp>
      <p:sp>
        <p:nvSpPr>
          <p:cNvPr id="6" name="Text 4"/>
          <p:cNvSpPr/>
          <p:nvPr/>
        </p:nvSpPr>
        <p:spPr>
          <a:xfrm>
            <a:off x="755333" y="3892510"/>
            <a:ext cx="6296620" cy="345281"/>
          </a:xfrm>
          <a:prstGeom prst="rect">
            <a:avLst/>
          </a:prstGeom>
          <a:noFill/>
          <a:ln/>
        </p:spPr>
        <p:txBody>
          <a:bodyPr wrap="none" lIns="0" tIns="0" rIns="0" bIns="0" rtlCol="0" anchor="t"/>
          <a:lstStyle/>
          <a:p>
            <a:pPr algn="l" marL="342900" indent="-342900">
              <a:lnSpc>
                <a:spcPts val="2700"/>
              </a:lnSpc>
              <a:buSzPct val="100000"/>
              <a:buChar char="•"/>
            </a:pPr>
            <a:r>
              <a:rPr lang="en-US" sz="1650" dirty="0">
                <a:solidFill>
                  <a:srgbClr val="333F70"/>
                </a:solidFill>
                <a:latin typeface="Open Sans" pitchFamily="34" charset="0"/>
                <a:ea typeface="Open Sans" pitchFamily="34" charset="-122"/>
                <a:cs typeface="Open Sans" pitchFamily="34" charset="-120"/>
              </a:rPr>
              <a:t>Báo cáo tổng hợp dữ liệu khảo sát và đánh giá tính khả thi</a:t>
            </a:r>
            <a:endParaRPr lang="en-US" sz="1650" dirty="0"/>
          </a:p>
        </p:txBody>
      </p:sp>
      <p:sp>
        <p:nvSpPr>
          <p:cNvPr id="7" name="Text 5"/>
          <p:cNvSpPr/>
          <p:nvPr/>
        </p:nvSpPr>
        <p:spPr>
          <a:xfrm>
            <a:off x="755333" y="4313277"/>
            <a:ext cx="6296620" cy="345281"/>
          </a:xfrm>
          <a:prstGeom prst="rect">
            <a:avLst/>
          </a:prstGeom>
          <a:noFill/>
          <a:ln/>
        </p:spPr>
        <p:txBody>
          <a:bodyPr wrap="none" lIns="0" tIns="0" rIns="0" bIns="0" rtlCol="0" anchor="t"/>
          <a:lstStyle/>
          <a:p>
            <a:pPr algn="l" marL="342900" indent="-342900">
              <a:lnSpc>
                <a:spcPts val="2700"/>
              </a:lnSpc>
              <a:buSzPct val="100000"/>
              <a:buChar char="•"/>
            </a:pPr>
            <a:r>
              <a:rPr lang="en-US" sz="1650" dirty="0">
                <a:solidFill>
                  <a:srgbClr val="333F70"/>
                </a:solidFill>
                <a:latin typeface="Open Sans" pitchFamily="34" charset="0"/>
                <a:ea typeface="Open Sans" pitchFamily="34" charset="-122"/>
                <a:cs typeface="Open Sans" pitchFamily="34" charset="-120"/>
              </a:rPr>
              <a:t>Đề xuất triển khai thực tiễn và khuyến nghị chính sách</a:t>
            </a:r>
            <a:endParaRPr lang="en-US" sz="1650" dirty="0"/>
          </a:p>
        </p:txBody>
      </p:sp>
      <p:sp>
        <p:nvSpPr>
          <p:cNvPr id="8" name="Text 6"/>
          <p:cNvSpPr/>
          <p:nvPr/>
        </p:nvSpPr>
        <p:spPr>
          <a:xfrm>
            <a:off x="7586067" y="1807488"/>
            <a:ext cx="4930854" cy="337185"/>
          </a:xfrm>
          <a:prstGeom prst="rect">
            <a:avLst/>
          </a:prstGeom>
          <a:noFill/>
          <a:ln/>
        </p:spPr>
        <p:txBody>
          <a:bodyPr wrap="none" lIns="0" tIns="0" rIns="0" bIns="0" rtlCol="0" anchor="t"/>
          <a:lstStyle/>
          <a:p>
            <a:pPr algn="l" indent="0" marL="0">
              <a:lnSpc>
                <a:spcPts val="2650"/>
              </a:lnSpc>
              <a:buNone/>
            </a:pPr>
            <a:r>
              <a:rPr lang="en-US" sz="2100" b="1" dirty="0">
                <a:solidFill>
                  <a:srgbClr val="333F70"/>
                </a:solidFill>
                <a:latin typeface="Unbounded Bold" pitchFamily="34" charset="0"/>
                <a:ea typeface="Unbounded Bold" pitchFamily="34" charset="-122"/>
                <a:cs typeface="Unbounded Bold" pitchFamily="34" charset="-120"/>
              </a:rPr>
              <a:t>Ý nghĩa khoa học và thực tiễn</a:t>
            </a:r>
            <a:endParaRPr lang="en-US" sz="2100" dirty="0"/>
          </a:p>
        </p:txBody>
      </p:sp>
      <p:sp>
        <p:nvSpPr>
          <p:cNvPr id="9" name="Text 7"/>
          <p:cNvSpPr/>
          <p:nvPr/>
        </p:nvSpPr>
        <p:spPr>
          <a:xfrm>
            <a:off x="7586067" y="2360414"/>
            <a:ext cx="6296620" cy="690563"/>
          </a:xfrm>
          <a:prstGeom prst="rect">
            <a:avLst/>
          </a:prstGeom>
          <a:noFill/>
          <a:ln/>
        </p:spPr>
        <p:txBody>
          <a:bodyPr wrap="square" lIns="0" tIns="0" rIns="0" bIns="0" rtlCol="0" anchor="t"/>
          <a:lstStyle/>
          <a:p>
            <a:pPr algn="l" marL="342900" indent="-342900">
              <a:lnSpc>
                <a:spcPts val="2700"/>
              </a:lnSpc>
              <a:buSzPct val="100000"/>
              <a:buChar char="•"/>
            </a:pPr>
            <a:r>
              <a:rPr lang="en-US" sz="1650" dirty="0">
                <a:solidFill>
                  <a:srgbClr val="333F70"/>
                </a:solidFill>
                <a:latin typeface="Open Sans" pitchFamily="34" charset="0"/>
                <a:ea typeface="Open Sans" pitchFamily="34" charset="-122"/>
                <a:cs typeface="Open Sans" pitchFamily="34" charset="-120"/>
              </a:rPr>
              <a:t>Góp phần xây dựng khung lý luận về ứng dụng Blockchain trong logistics tại Việt Nam</a:t>
            </a:r>
            <a:endParaRPr lang="en-US" sz="1650" dirty="0"/>
          </a:p>
        </p:txBody>
      </p:sp>
      <p:sp>
        <p:nvSpPr>
          <p:cNvPr id="10" name="Text 8"/>
          <p:cNvSpPr/>
          <p:nvPr/>
        </p:nvSpPr>
        <p:spPr>
          <a:xfrm>
            <a:off x="7586067" y="3126462"/>
            <a:ext cx="6296620" cy="690563"/>
          </a:xfrm>
          <a:prstGeom prst="rect">
            <a:avLst/>
          </a:prstGeom>
          <a:noFill/>
          <a:ln/>
        </p:spPr>
        <p:txBody>
          <a:bodyPr wrap="square" lIns="0" tIns="0" rIns="0" bIns="0" rtlCol="0" anchor="t"/>
          <a:lstStyle/>
          <a:p>
            <a:pPr algn="l" marL="342900" indent="-342900">
              <a:lnSpc>
                <a:spcPts val="2700"/>
              </a:lnSpc>
              <a:buSzPct val="100000"/>
              <a:buChar char="•"/>
            </a:pPr>
            <a:r>
              <a:rPr lang="en-US" sz="1650" dirty="0">
                <a:solidFill>
                  <a:srgbClr val="333F70"/>
                </a:solidFill>
                <a:latin typeface="Open Sans" pitchFamily="34" charset="0"/>
                <a:ea typeface="Open Sans" pitchFamily="34" charset="-122"/>
                <a:cs typeface="Open Sans" pitchFamily="34" charset="-120"/>
              </a:rPr>
              <a:t>Cung cấp công cụ đào tạo và nâng cao nhận thức về công nghệ Blockchain cho các doanh nghiệp</a:t>
            </a:r>
            <a:endParaRPr lang="en-US" sz="1650" dirty="0"/>
          </a:p>
        </p:txBody>
      </p:sp>
      <p:sp>
        <p:nvSpPr>
          <p:cNvPr id="11" name="Text 9"/>
          <p:cNvSpPr/>
          <p:nvPr/>
        </p:nvSpPr>
        <p:spPr>
          <a:xfrm>
            <a:off x="7586067" y="3892510"/>
            <a:ext cx="6296620" cy="690563"/>
          </a:xfrm>
          <a:prstGeom prst="rect">
            <a:avLst/>
          </a:prstGeom>
          <a:noFill/>
          <a:ln/>
        </p:spPr>
        <p:txBody>
          <a:bodyPr wrap="square" lIns="0" tIns="0" rIns="0" bIns="0" rtlCol="0" anchor="t"/>
          <a:lstStyle/>
          <a:p>
            <a:pPr algn="l" marL="342900" indent="-342900">
              <a:lnSpc>
                <a:spcPts val="2700"/>
              </a:lnSpc>
              <a:buSzPct val="100000"/>
              <a:buChar char="•"/>
            </a:pPr>
            <a:r>
              <a:rPr lang="en-US" sz="1650" dirty="0">
                <a:solidFill>
                  <a:srgbClr val="333F70"/>
                </a:solidFill>
                <a:latin typeface="Open Sans" pitchFamily="34" charset="0"/>
                <a:ea typeface="Open Sans" pitchFamily="34" charset="-122"/>
                <a:cs typeface="Open Sans" pitchFamily="34" charset="-120"/>
              </a:rPr>
              <a:t>Hỗ trợ hoạch định chính sách cho quá trình chuyển đổi số ngành logistics</a:t>
            </a:r>
            <a:endParaRPr lang="en-US" sz="1650" dirty="0"/>
          </a:p>
        </p:txBody>
      </p:sp>
      <p:sp>
        <p:nvSpPr>
          <p:cNvPr id="12" name="Text 10"/>
          <p:cNvSpPr/>
          <p:nvPr/>
        </p:nvSpPr>
        <p:spPr>
          <a:xfrm>
            <a:off x="7586067" y="4658558"/>
            <a:ext cx="6296620" cy="690563"/>
          </a:xfrm>
          <a:prstGeom prst="rect">
            <a:avLst/>
          </a:prstGeom>
          <a:noFill/>
          <a:ln/>
        </p:spPr>
        <p:txBody>
          <a:bodyPr wrap="square" lIns="0" tIns="0" rIns="0" bIns="0" rtlCol="0" anchor="t"/>
          <a:lstStyle/>
          <a:p>
            <a:pPr algn="l" marL="342900" indent="-342900">
              <a:lnSpc>
                <a:spcPts val="2700"/>
              </a:lnSpc>
              <a:buSzPct val="100000"/>
              <a:buChar char="•"/>
            </a:pPr>
            <a:r>
              <a:rPr lang="en-US" sz="1650" dirty="0">
                <a:solidFill>
                  <a:srgbClr val="333F70"/>
                </a:solidFill>
                <a:latin typeface="Open Sans" pitchFamily="34" charset="0"/>
                <a:ea typeface="Open Sans" pitchFamily="34" charset="-122"/>
                <a:cs typeface="Open Sans" pitchFamily="34" charset="-120"/>
              </a:rPr>
              <a:t>Tạo nền tảng cho việc triển khai các giải pháp thực tế trong tương lai</a:t>
            </a:r>
            <a:endParaRPr lang="en-US" sz="1650" dirty="0"/>
          </a:p>
        </p:txBody>
      </p:sp>
      <p:sp>
        <p:nvSpPr>
          <p:cNvPr id="13" name="Text 11"/>
          <p:cNvSpPr/>
          <p:nvPr/>
        </p:nvSpPr>
        <p:spPr>
          <a:xfrm>
            <a:off x="755333" y="5667375"/>
            <a:ext cx="13119735" cy="690563"/>
          </a:xfrm>
          <a:prstGeom prst="rect">
            <a:avLst/>
          </a:prstGeom>
          <a:noFill/>
          <a:ln/>
        </p:spPr>
        <p:txBody>
          <a:bodyPr wrap="square" lIns="0" tIns="0" rIns="0" bIns="0" rtlCol="0" anchor="t"/>
          <a:lstStyle/>
          <a:p>
            <a:pPr algn="l" indent="0" marL="0">
              <a:lnSpc>
                <a:spcPts val="2700"/>
              </a:lnSpc>
              <a:buNone/>
            </a:pPr>
            <a:r>
              <a:rPr lang="en-US" sz="1650" dirty="0">
                <a:solidFill>
                  <a:srgbClr val="333F70"/>
                </a:solidFill>
                <a:latin typeface="Open Sans" pitchFamily="34" charset="0"/>
                <a:ea typeface="Open Sans" pitchFamily="34" charset="-122"/>
                <a:cs typeface="Open Sans" pitchFamily="34" charset="-120"/>
              </a:rPr>
              <a:t>Nghiên cứu không chỉ mang lại giá trị học thuật mà còn có ý nghĩa thực tiễn sâu sắc, đặc biệt trong bối cảnh Việt Nam đang đẩy mạnh quá trình chuyển đổi số và nâng cao năng lực cạnh tranh của ngành logistics.</a:t>
            </a:r>
            <a:endParaRPr lang="en-US" sz="1650" dirty="0"/>
          </a:p>
        </p:txBody>
      </p:sp>
      <p:sp>
        <p:nvSpPr>
          <p:cNvPr id="14" name="Text 12"/>
          <p:cNvSpPr/>
          <p:nvPr/>
        </p:nvSpPr>
        <p:spPr>
          <a:xfrm>
            <a:off x="755333" y="6600706"/>
            <a:ext cx="13119735" cy="1035844"/>
          </a:xfrm>
          <a:prstGeom prst="rect">
            <a:avLst/>
          </a:prstGeom>
          <a:noFill/>
          <a:ln/>
        </p:spPr>
        <p:txBody>
          <a:bodyPr wrap="square" lIns="0" tIns="0" rIns="0" bIns="0" rtlCol="0" anchor="t"/>
          <a:lstStyle/>
          <a:p>
            <a:pPr algn="l" indent="0" marL="0">
              <a:lnSpc>
                <a:spcPts val="2700"/>
              </a:lnSpc>
              <a:buNone/>
            </a:pPr>
            <a:r>
              <a:rPr lang="en-US" sz="1650" dirty="0">
                <a:solidFill>
                  <a:srgbClr val="333F70"/>
                </a:solidFill>
                <a:latin typeface="Open Sans" pitchFamily="34" charset="0"/>
                <a:ea typeface="Open Sans" pitchFamily="34" charset="-122"/>
                <a:cs typeface="Open Sans" pitchFamily="34" charset="-120"/>
              </a:rPr>
              <a:t>Kết quả nghiên cứu có thể được ứng dụng trực tiếp vào thực tiễn, giúp các doanh nghiệp vừa và nhỏ tiếp cận công nghệ tiên tiến với chi phí hợp lý, đồng thời cung cấp cơ sở cho việc hoạch định chính sách phát triển ngành logistics quốc gia theo hướng hiện đại và bền vững.</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2025-05-03T15:26:36Z</dcterms:created>
  <dcterms:modified xsi:type="dcterms:W3CDTF">2025-05-03T15:26:36Z</dcterms:modified>
</cp:coreProperties>
</file>